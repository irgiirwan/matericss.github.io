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204700" cy="6927850"/>
  <p:notesSz cx="12204700" cy="6927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432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49367" y="2401823"/>
            <a:ext cx="2512060" cy="472440"/>
          </a:xfrm>
          <a:custGeom>
            <a:avLst/>
            <a:gdLst/>
            <a:ahLst/>
            <a:cxnLst/>
            <a:rect l="l" t="t" r="r" b="b"/>
            <a:pathLst>
              <a:path w="2512059" h="472439">
                <a:moveTo>
                  <a:pt x="2511551" y="472439"/>
                </a:moveTo>
                <a:lnTo>
                  <a:pt x="0" y="472439"/>
                </a:lnTo>
                <a:lnTo>
                  <a:pt x="0" y="0"/>
                </a:lnTo>
                <a:lnTo>
                  <a:pt x="2511551" y="0"/>
                </a:lnTo>
                <a:lnTo>
                  <a:pt x="2511551" y="27050"/>
                </a:lnTo>
                <a:lnTo>
                  <a:pt x="236981" y="27050"/>
                </a:lnTo>
                <a:lnTo>
                  <a:pt x="217277" y="28002"/>
                </a:lnTo>
                <a:lnTo>
                  <a:pt x="179003" y="35615"/>
                </a:lnTo>
                <a:lnTo>
                  <a:pt x="142594" y="50696"/>
                </a:lnTo>
                <a:lnTo>
                  <a:pt x="110148" y="72376"/>
                </a:lnTo>
                <a:lnTo>
                  <a:pt x="82282" y="100242"/>
                </a:lnTo>
                <a:lnTo>
                  <a:pt x="60602" y="132689"/>
                </a:lnTo>
                <a:lnTo>
                  <a:pt x="45521" y="169098"/>
                </a:lnTo>
                <a:lnTo>
                  <a:pt x="37908" y="207371"/>
                </a:lnTo>
                <a:lnTo>
                  <a:pt x="36956" y="227075"/>
                </a:lnTo>
                <a:lnTo>
                  <a:pt x="37908" y="246780"/>
                </a:lnTo>
                <a:lnTo>
                  <a:pt x="45521" y="285053"/>
                </a:lnTo>
                <a:lnTo>
                  <a:pt x="60602" y="321462"/>
                </a:lnTo>
                <a:lnTo>
                  <a:pt x="82282" y="353908"/>
                </a:lnTo>
                <a:lnTo>
                  <a:pt x="110148" y="381774"/>
                </a:lnTo>
                <a:lnTo>
                  <a:pt x="142594" y="403454"/>
                </a:lnTo>
                <a:lnTo>
                  <a:pt x="179003" y="418535"/>
                </a:lnTo>
                <a:lnTo>
                  <a:pt x="217277" y="426149"/>
                </a:lnTo>
                <a:lnTo>
                  <a:pt x="236981" y="427100"/>
                </a:lnTo>
                <a:lnTo>
                  <a:pt x="2511551" y="427100"/>
                </a:lnTo>
                <a:lnTo>
                  <a:pt x="2511551" y="472439"/>
                </a:lnTo>
                <a:close/>
              </a:path>
              <a:path w="2512059" h="472439">
                <a:moveTo>
                  <a:pt x="2511551" y="427100"/>
                </a:moveTo>
                <a:lnTo>
                  <a:pt x="2275331" y="427100"/>
                </a:lnTo>
                <a:lnTo>
                  <a:pt x="2295035" y="426149"/>
                </a:lnTo>
                <a:lnTo>
                  <a:pt x="2314361" y="423294"/>
                </a:lnTo>
                <a:lnTo>
                  <a:pt x="2351877" y="411874"/>
                </a:lnTo>
                <a:lnTo>
                  <a:pt x="2386480" y="393421"/>
                </a:lnTo>
                <a:lnTo>
                  <a:pt x="2416770" y="368514"/>
                </a:lnTo>
                <a:lnTo>
                  <a:pt x="2441677" y="338224"/>
                </a:lnTo>
                <a:lnTo>
                  <a:pt x="2460130" y="303622"/>
                </a:lnTo>
                <a:lnTo>
                  <a:pt x="2471550" y="266106"/>
                </a:lnTo>
                <a:lnTo>
                  <a:pt x="2475356" y="227075"/>
                </a:lnTo>
                <a:lnTo>
                  <a:pt x="2474405" y="207371"/>
                </a:lnTo>
                <a:lnTo>
                  <a:pt x="2466791" y="169098"/>
                </a:lnTo>
                <a:lnTo>
                  <a:pt x="2451710" y="132689"/>
                </a:lnTo>
                <a:lnTo>
                  <a:pt x="2430030" y="100242"/>
                </a:lnTo>
                <a:lnTo>
                  <a:pt x="2402164" y="72376"/>
                </a:lnTo>
                <a:lnTo>
                  <a:pt x="2369717" y="50696"/>
                </a:lnTo>
                <a:lnTo>
                  <a:pt x="2333308" y="35615"/>
                </a:lnTo>
                <a:lnTo>
                  <a:pt x="2295035" y="28002"/>
                </a:lnTo>
                <a:lnTo>
                  <a:pt x="2275331" y="27050"/>
                </a:lnTo>
                <a:lnTo>
                  <a:pt x="2511551" y="27050"/>
                </a:lnTo>
                <a:lnTo>
                  <a:pt x="2511551" y="427100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876799" y="2419350"/>
            <a:ext cx="2457450" cy="419100"/>
          </a:xfrm>
          <a:custGeom>
            <a:avLst/>
            <a:gdLst/>
            <a:ahLst/>
            <a:cxnLst/>
            <a:rect l="l" t="t" r="r" b="b"/>
            <a:pathLst>
              <a:path w="2457450" h="419100">
                <a:moveTo>
                  <a:pt x="2254763" y="419099"/>
                </a:moveTo>
                <a:lnTo>
                  <a:pt x="202687" y="419099"/>
                </a:lnTo>
                <a:lnTo>
                  <a:pt x="195840" y="418763"/>
                </a:lnTo>
                <a:lnTo>
                  <a:pt x="155288" y="412068"/>
                </a:lnTo>
                <a:lnTo>
                  <a:pt x="116820" y="397591"/>
                </a:lnTo>
                <a:lnTo>
                  <a:pt x="81917" y="375887"/>
                </a:lnTo>
                <a:lnTo>
                  <a:pt x="51918" y="347791"/>
                </a:lnTo>
                <a:lnTo>
                  <a:pt x="27978" y="314383"/>
                </a:lnTo>
                <a:lnTo>
                  <a:pt x="11014" y="276946"/>
                </a:lnTo>
                <a:lnTo>
                  <a:pt x="1681" y="236919"/>
                </a:lnTo>
                <a:lnTo>
                  <a:pt x="0" y="216413"/>
                </a:lnTo>
                <a:lnTo>
                  <a:pt x="0" y="209549"/>
                </a:lnTo>
                <a:lnTo>
                  <a:pt x="0" y="202686"/>
                </a:lnTo>
                <a:lnTo>
                  <a:pt x="5364" y="161936"/>
                </a:lnTo>
                <a:lnTo>
                  <a:pt x="18577" y="123017"/>
                </a:lnTo>
                <a:lnTo>
                  <a:pt x="39127" y="87423"/>
                </a:lnTo>
                <a:lnTo>
                  <a:pt x="66228" y="56522"/>
                </a:lnTo>
                <a:lnTo>
                  <a:pt x="98835" y="31502"/>
                </a:lnTo>
                <a:lnTo>
                  <a:pt x="135698" y="13324"/>
                </a:lnTo>
                <a:lnTo>
                  <a:pt x="175400" y="2687"/>
                </a:lnTo>
                <a:lnTo>
                  <a:pt x="202687" y="0"/>
                </a:lnTo>
                <a:lnTo>
                  <a:pt x="2254763" y="0"/>
                </a:lnTo>
                <a:lnTo>
                  <a:pt x="2295512" y="5365"/>
                </a:lnTo>
                <a:lnTo>
                  <a:pt x="2334431" y="18576"/>
                </a:lnTo>
                <a:lnTo>
                  <a:pt x="2370025" y="39127"/>
                </a:lnTo>
                <a:lnTo>
                  <a:pt x="2400925" y="66228"/>
                </a:lnTo>
                <a:lnTo>
                  <a:pt x="2425946" y="98836"/>
                </a:lnTo>
                <a:lnTo>
                  <a:pt x="2444123" y="135698"/>
                </a:lnTo>
                <a:lnTo>
                  <a:pt x="2454761" y="175399"/>
                </a:lnTo>
                <a:lnTo>
                  <a:pt x="2457450" y="202686"/>
                </a:lnTo>
                <a:lnTo>
                  <a:pt x="2457450" y="216413"/>
                </a:lnTo>
                <a:lnTo>
                  <a:pt x="2452083" y="257162"/>
                </a:lnTo>
                <a:lnTo>
                  <a:pt x="2438871" y="296081"/>
                </a:lnTo>
                <a:lnTo>
                  <a:pt x="2418320" y="331675"/>
                </a:lnTo>
                <a:lnTo>
                  <a:pt x="2391220" y="362576"/>
                </a:lnTo>
                <a:lnTo>
                  <a:pt x="2358612" y="387596"/>
                </a:lnTo>
                <a:lnTo>
                  <a:pt x="2321750" y="405774"/>
                </a:lnTo>
                <a:lnTo>
                  <a:pt x="2282050" y="416411"/>
                </a:lnTo>
                <a:lnTo>
                  <a:pt x="2261610" y="418763"/>
                </a:lnTo>
                <a:lnTo>
                  <a:pt x="2254763" y="41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8625" y="2584449"/>
            <a:ext cx="146050" cy="88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73693" y="2955163"/>
            <a:ext cx="4857312" cy="99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958194"/>
            <a:ext cx="7761605" cy="598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80261"/>
            <a:ext cx="1098423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2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0875" y="2526341"/>
            <a:ext cx="193167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dirty="0">
                <a:solidFill>
                  <a:srgbClr val="E9580C"/>
                </a:solidFill>
                <a:latin typeface="Tahoma"/>
                <a:cs typeface="Tahoma"/>
              </a:rPr>
              <a:t>WEB</a:t>
            </a:r>
            <a:r>
              <a:rPr sz="1050" b="1" spc="9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dirty="0">
                <a:solidFill>
                  <a:srgbClr val="E9580C"/>
                </a:solidFill>
                <a:latin typeface="Tahoma"/>
                <a:cs typeface="Tahoma"/>
              </a:rPr>
              <a:t>DEVELOPMENT</a:t>
            </a:r>
            <a:r>
              <a:rPr sz="1050" b="1" spc="7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10" dirty="0">
                <a:solidFill>
                  <a:srgbClr val="E9580C"/>
                </a:solidFill>
                <a:latin typeface="Tahoma"/>
                <a:cs typeface="Tahoma"/>
              </a:rPr>
              <a:t>SERIES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z="6300" spc="-10" dirty="0"/>
              <a:t>Anatomi</a:t>
            </a:r>
            <a:r>
              <a:rPr sz="6300" spc="-425" dirty="0"/>
              <a:t> </a:t>
            </a:r>
            <a:r>
              <a:rPr sz="6300" spc="480" dirty="0">
                <a:solidFill>
                  <a:srgbClr val="E9580C"/>
                </a:solidFill>
              </a:rPr>
              <a:t>CSS</a:t>
            </a:r>
            <a:endParaRPr sz="6300"/>
          </a:p>
        </p:txBody>
      </p:sp>
      <p:sp>
        <p:nvSpPr>
          <p:cNvPr id="4" name="object 4"/>
          <p:cNvSpPr txBox="1"/>
          <p:nvPr/>
        </p:nvSpPr>
        <p:spPr>
          <a:xfrm>
            <a:off x="3477467" y="4116044"/>
            <a:ext cx="525716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solidFill>
                  <a:srgbClr val="4A5462"/>
                </a:solidFill>
                <a:latin typeface="Tahoma"/>
                <a:cs typeface="Tahoma"/>
              </a:rPr>
              <a:t>Bahasa</a:t>
            </a:r>
            <a:r>
              <a:rPr sz="1900" spc="9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A5462"/>
                </a:solidFill>
                <a:latin typeface="Tahoma"/>
                <a:cs typeface="Tahoma"/>
              </a:rPr>
              <a:t>untuk</a:t>
            </a:r>
            <a:r>
              <a:rPr sz="1900" spc="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A5462"/>
                </a:solidFill>
                <a:latin typeface="Tahoma"/>
                <a:cs typeface="Tahoma"/>
              </a:rPr>
              <a:t>Mengatur</a:t>
            </a:r>
            <a:r>
              <a:rPr sz="1900" spc="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A5462"/>
                </a:solidFill>
                <a:latin typeface="Tahoma"/>
                <a:cs typeface="Tahoma"/>
              </a:rPr>
              <a:t>Tampilan</a:t>
            </a:r>
            <a:r>
              <a:rPr sz="1900" spc="10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A5462"/>
                </a:solidFill>
                <a:latin typeface="Tahoma"/>
                <a:cs typeface="Tahoma"/>
              </a:rPr>
              <a:t>Halaman</a:t>
            </a:r>
            <a:r>
              <a:rPr sz="1900" spc="10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4A5462"/>
                </a:solidFill>
                <a:latin typeface="Tahoma"/>
                <a:cs typeface="Tahoma"/>
              </a:rPr>
              <a:t>Web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660399"/>
            <a:ext cx="17145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10985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10" dirty="0">
                <a:solidFill>
                  <a:srgbClr val="E9580C"/>
                </a:solidFill>
                <a:latin typeface="Tahoma"/>
                <a:cs typeface="Tahoma"/>
              </a:rPr>
              <a:t>INTRODUCTION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25" dirty="0"/>
              <a:t>Pengenalan</a:t>
            </a:r>
            <a:r>
              <a:rPr sz="3700" spc="-210" dirty="0"/>
              <a:t> </a:t>
            </a:r>
            <a:r>
              <a:rPr sz="3700" spc="290" dirty="0">
                <a:solidFill>
                  <a:srgbClr val="E9580C"/>
                </a:solidFill>
              </a:rPr>
              <a:t>CSS</a:t>
            </a:r>
            <a:endParaRPr sz="3700"/>
          </a:p>
        </p:txBody>
      </p:sp>
      <p:sp>
        <p:nvSpPr>
          <p:cNvPr id="5" name="object 5"/>
          <p:cNvSpPr txBox="1"/>
          <p:nvPr/>
        </p:nvSpPr>
        <p:spPr>
          <a:xfrm>
            <a:off x="758825" y="2893446"/>
            <a:ext cx="491172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95"/>
              </a:spcBef>
            </a:pP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CSS</a:t>
            </a:r>
            <a:r>
              <a:rPr sz="1900" spc="-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spc="-95" dirty="0">
                <a:solidFill>
                  <a:srgbClr val="374050"/>
                </a:solidFill>
                <a:latin typeface="Tahoma"/>
                <a:cs typeface="Tahoma"/>
              </a:rPr>
              <a:t>(</a:t>
            </a:r>
            <a:r>
              <a:rPr sz="1900" b="1" spc="-95" dirty="0">
                <a:solidFill>
                  <a:srgbClr val="E9580C"/>
                </a:solidFill>
                <a:latin typeface="Tahoma"/>
                <a:cs typeface="Tahoma"/>
              </a:rPr>
              <a:t>Cascading</a:t>
            </a:r>
            <a:r>
              <a:rPr sz="1900" b="1" spc="4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900" b="1" spc="-90" dirty="0">
                <a:solidFill>
                  <a:srgbClr val="E9580C"/>
                </a:solidFill>
                <a:latin typeface="Tahoma"/>
                <a:cs typeface="Tahoma"/>
              </a:rPr>
              <a:t>Style</a:t>
            </a:r>
            <a:r>
              <a:rPr sz="1900" b="1" spc="-1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900" b="1" spc="-105" dirty="0">
                <a:solidFill>
                  <a:srgbClr val="E9580C"/>
                </a:solidFill>
                <a:latin typeface="Tahoma"/>
                <a:cs typeface="Tahoma"/>
              </a:rPr>
              <a:t>Sheets</a:t>
            </a:r>
            <a:r>
              <a:rPr sz="1900" spc="-105" dirty="0">
                <a:solidFill>
                  <a:srgbClr val="374050"/>
                </a:solidFill>
                <a:latin typeface="Tahoma"/>
                <a:cs typeface="Tahoma"/>
              </a:rPr>
              <a:t>)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 adalah</a:t>
            </a:r>
            <a:r>
              <a:rPr sz="1900" spc="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374050"/>
                </a:solidFill>
                <a:latin typeface="Tahoma"/>
                <a:cs typeface="Tahoma"/>
              </a:rPr>
              <a:t>bahasa 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yang</a:t>
            </a:r>
            <a:r>
              <a:rPr sz="1900" spc="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digunakan</a:t>
            </a:r>
            <a:r>
              <a:rPr sz="1900" spc="11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untuk</a:t>
            </a:r>
            <a:r>
              <a:rPr sz="1900" spc="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mengatur</a:t>
            </a:r>
            <a:r>
              <a:rPr sz="1900" spc="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374050"/>
                </a:solidFill>
                <a:latin typeface="Tahoma"/>
                <a:cs typeface="Tahoma"/>
              </a:rPr>
              <a:t>tampilan </a:t>
            </a:r>
            <a:r>
              <a:rPr sz="1900" dirty="0">
                <a:solidFill>
                  <a:srgbClr val="374050"/>
                </a:solidFill>
                <a:latin typeface="Tahoma"/>
                <a:cs typeface="Tahoma"/>
              </a:rPr>
              <a:t>halaman</a:t>
            </a:r>
            <a:r>
              <a:rPr sz="1900" spc="1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374050"/>
                </a:solidFill>
                <a:latin typeface="Tahoma"/>
                <a:cs typeface="Tahoma"/>
              </a:rPr>
              <a:t>web.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3711" y="4364735"/>
            <a:ext cx="798830" cy="948055"/>
            <a:chOff x="743711" y="4364735"/>
            <a:chExt cx="798830" cy="948055"/>
          </a:xfrm>
        </p:grpSpPr>
        <p:sp>
          <p:nvSpPr>
            <p:cNvPr id="7" name="object 7"/>
            <p:cNvSpPr/>
            <p:nvPr/>
          </p:nvSpPr>
          <p:spPr>
            <a:xfrm>
              <a:off x="743711" y="4364735"/>
              <a:ext cx="798830" cy="948055"/>
            </a:xfrm>
            <a:custGeom>
              <a:avLst/>
              <a:gdLst/>
              <a:ahLst/>
              <a:cxnLst/>
              <a:rect l="l" t="t" r="r" b="b"/>
              <a:pathLst>
                <a:path w="798830" h="948054">
                  <a:moveTo>
                    <a:pt x="798575" y="947927"/>
                  </a:moveTo>
                  <a:lnTo>
                    <a:pt x="0" y="947927"/>
                  </a:lnTo>
                  <a:lnTo>
                    <a:pt x="0" y="0"/>
                  </a:lnTo>
                  <a:lnTo>
                    <a:pt x="798575" y="0"/>
                  </a:lnTo>
                  <a:lnTo>
                    <a:pt x="798575" y="26288"/>
                  </a:lnTo>
                  <a:lnTo>
                    <a:pt x="142112" y="26288"/>
                  </a:lnTo>
                  <a:lnTo>
                    <a:pt x="131791" y="26787"/>
                  </a:lnTo>
                  <a:lnTo>
                    <a:pt x="92672" y="38674"/>
                  </a:lnTo>
                  <a:lnTo>
                    <a:pt x="61079" y="64627"/>
                  </a:lnTo>
                  <a:lnTo>
                    <a:pt x="41824" y="100694"/>
                  </a:lnTo>
                  <a:lnTo>
                    <a:pt x="37337" y="131063"/>
                  </a:lnTo>
                  <a:lnTo>
                    <a:pt x="37337" y="797813"/>
                  </a:lnTo>
                  <a:lnTo>
                    <a:pt x="45313" y="837908"/>
                  </a:lnTo>
                  <a:lnTo>
                    <a:pt x="68025" y="871900"/>
                  </a:lnTo>
                  <a:lnTo>
                    <a:pt x="102017" y="894612"/>
                  </a:lnTo>
                  <a:lnTo>
                    <a:pt x="142112" y="902588"/>
                  </a:lnTo>
                  <a:lnTo>
                    <a:pt x="798575" y="902588"/>
                  </a:lnTo>
                  <a:lnTo>
                    <a:pt x="798575" y="947927"/>
                  </a:lnTo>
                  <a:close/>
                </a:path>
                <a:path w="798830" h="948054">
                  <a:moveTo>
                    <a:pt x="798575" y="902588"/>
                  </a:moveTo>
                  <a:lnTo>
                    <a:pt x="656462" y="902588"/>
                  </a:lnTo>
                  <a:lnTo>
                    <a:pt x="666784" y="902090"/>
                  </a:lnTo>
                  <a:lnTo>
                    <a:pt x="676907" y="900594"/>
                  </a:lnTo>
                  <a:lnTo>
                    <a:pt x="714683" y="884946"/>
                  </a:lnTo>
                  <a:lnTo>
                    <a:pt x="743596" y="856033"/>
                  </a:lnTo>
                  <a:lnTo>
                    <a:pt x="759243" y="818257"/>
                  </a:lnTo>
                  <a:lnTo>
                    <a:pt x="761237" y="797813"/>
                  </a:lnTo>
                  <a:lnTo>
                    <a:pt x="761237" y="131063"/>
                  </a:lnTo>
                  <a:lnTo>
                    <a:pt x="753262" y="90967"/>
                  </a:lnTo>
                  <a:lnTo>
                    <a:pt x="730549" y="56976"/>
                  </a:lnTo>
                  <a:lnTo>
                    <a:pt x="696558" y="34263"/>
                  </a:lnTo>
                  <a:lnTo>
                    <a:pt x="656462" y="26288"/>
                  </a:lnTo>
                  <a:lnTo>
                    <a:pt x="798575" y="26288"/>
                  </a:lnTo>
                  <a:lnTo>
                    <a:pt x="798575" y="9025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6287" y="4386262"/>
              <a:ext cx="733425" cy="885825"/>
            </a:xfrm>
            <a:custGeom>
              <a:avLst/>
              <a:gdLst/>
              <a:ahLst/>
              <a:cxnLst/>
              <a:rect l="l" t="t" r="r" b="b"/>
              <a:pathLst>
                <a:path w="733425" h="885825">
                  <a:moveTo>
                    <a:pt x="631079" y="885824"/>
                  </a:moveTo>
                  <a:lnTo>
                    <a:pt x="102345" y="885824"/>
                  </a:lnTo>
                  <a:lnTo>
                    <a:pt x="95221" y="885123"/>
                  </a:lnTo>
                  <a:lnTo>
                    <a:pt x="54661" y="871360"/>
                  </a:lnTo>
                  <a:lnTo>
                    <a:pt x="22456" y="843122"/>
                  </a:lnTo>
                  <a:lnTo>
                    <a:pt x="3507" y="804710"/>
                  </a:lnTo>
                  <a:lnTo>
                    <a:pt x="0" y="783479"/>
                  </a:lnTo>
                  <a:lnTo>
                    <a:pt x="0" y="776287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631079" y="0"/>
                  </a:lnTo>
                  <a:lnTo>
                    <a:pt x="672450" y="11090"/>
                  </a:lnTo>
                  <a:lnTo>
                    <a:pt x="706427" y="37168"/>
                  </a:lnTo>
                  <a:lnTo>
                    <a:pt x="727839" y="74263"/>
                  </a:lnTo>
                  <a:lnTo>
                    <a:pt x="733424" y="102344"/>
                  </a:lnTo>
                  <a:lnTo>
                    <a:pt x="733424" y="783479"/>
                  </a:lnTo>
                  <a:lnTo>
                    <a:pt x="722334" y="824850"/>
                  </a:lnTo>
                  <a:lnTo>
                    <a:pt x="696256" y="858827"/>
                  </a:lnTo>
                  <a:lnTo>
                    <a:pt x="659160" y="880238"/>
                  </a:lnTo>
                  <a:lnTo>
                    <a:pt x="638202" y="885123"/>
                  </a:lnTo>
                  <a:lnTo>
                    <a:pt x="631079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287" y="4386262"/>
              <a:ext cx="733425" cy="885825"/>
            </a:xfrm>
            <a:custGeom>
              <a:avLst/>
              <a:gdLst/>
              <a:ahLst/>
              <a:cxnLst/>
              <a:rect l="l" t="t" r="r" b="b"/>
              <a:pathLst>
                <a:path w="733425" h="885825">
                  <a:moveTo>
                    <a:pt x="0" y="7762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623887" y="0"/>
                  </a:lnTo>
                  <a:lnTo>
                    <a:pt x="631079" y="0"/>
                  </a:lnTo>
                  <a:lnTo>
                    <a:pt x="638202" y="701"/>
                  </a:lnTo>
                  <a:lnTo>
                    <a:pt x="645257" y="2104"/>
                  </a:lnTo>
                  <a:lnTo>
                    <a:pt x="652311" y="3507"/>
                  </a:lnTo>
                  <a:lnTo>
                    <a:pt x="659160" y="5585"/>
                  </a:lnTo>
                  <a:lnTo>
                    <a:pt x="665805" y="8337"/>
                  </a:lnTo>
                  <a:lnTo>
                    <a:pt x="672450" y="11090"/>
                  </a:lnTo>
                  <a:lnTo>
                    <a:pt x="678762" y="14464"/>
                  </a:lnTo>
                  <a:lnTo>
                    <a:pt x="684743" y="18460"/>
                  </a:lnTo>
                  <a:lnTo>
                    <a:pt x="690723" y="22455"/>
                  </a:lnTo>
                  <a:lnTo>
                    <a:pt x="696256" y="26996"/>
                  </a:lnTo>
                  <a:lnTo>
                    <a:pt x="701342" y="32082"/>
                  </a:lnTo>
                  <a:lnTo>
                    <a:pt x="706427" y="37168"/>
                  </a:lnTo>
                  <a:lnTo>
                    <a:pt x="710968" y="42701"/>
                  </a:lnTo>
                  <a:lnTo>
                    <a:pt x="714964" y="48681"/>
                  </a:lnTo>
                  <a:lnTo>
                    <a:pt x="718960" y="54661"/>
                  </a:lnTo>
                  <a:lnTo>
                    <a:pt x="722334" y="60973"/>
                  </a:lnTo>
                  <a:lnTo>
                    <a:pt x="725086" y="67618"/>
                  </a:lnTo>
                  <a:lnTo>
                    <a:pt x="727839" y="74263"/>
                  </a:lnTo>
                  <a:lnTo>
                    <a:pt x="729916" y="81113"/>
                  </a:lnTo>
                  <a:lnTo>
                    <a:pt x="731320" y="88167"/>
                  </a:lnTo>
                  <a:lnTo>
                    <a:pt x="732723" y="95221"/>
                  </a:lnTo>
                  <a:lnTo>
                    <a:pt x="733424" y="102344"/>
                  </a:lnTo>
                  <a:lnTo>
                    <a:pt x="733425" y="109537"/>
                  </a:lnTo>
                  <a:lnTo>
                    <a:pt x="733425" y="776287"/>
                  </a:lnTo>
                  <a:lnTo>
                    <a:pt x="733424" y="783479"/>
                  </a:lnTo>
                  <a:lnTo>
                    <a:pt x="732723" y="790602"/>
                  </a:lnTo>
                  <a:lnTo>
                    <a:pt x="731320" y="797657"/>
                  </a:lnTo>
                  <a:lnTo>
                    <a:pt x="729916" y="804710"/>
                  </a:lnTo>
                  <a:lnTo>
                    <a:pt x="727839" y="811560"/>
                  </a:lnTo>
                  <a:lnTo>
                    <a:pt x="725086" y="818205"/>
                  </a:lnTo>
                  <a:lnTo>
                    <a:pt x="722334" y="824850"/>
                  </a:lnTo>
                  <a:lnTo>
                    <a:pt x="696256" y="858827"/>
                  </a:lnTo>
                  <a:lnTo>
                    <a:pt x="665805" y="877485"/>
                  </a:lnTo>
                  <a:lnTo>
                    <a:pt x="659160" y="880238"/>
                  </a:lnTo>
                  <a:lnTo>
                    <a:pt x="652311" y="882316"/>
                  </a:lnTo>
                  <a:lnTo>
                    <a:pt x="645257" y="883719"/>
                  </a:lnTo>
                  <a:lnTo>
                    <a:pt x="638202" y="885123"/>
                  </a:lnTo>
                  <a:lnTo>
                    <a:pt x="631079" y="885824"/>
                  </a:lnTo>
                  <a:lnTo>
                    <a:pt x="623887" y="885824"/>
                  </a:lnTo>
                  <a:lnTo>
                    <a:pt x="109537" y="885824"/>
                  </a:lnTo>
                  <a:lnTo>
                    <a:pt x="102345" y="885824"/>
                  </a:lnTo>
                  <a:lnTo>
                    <a:pt x="95221" y="885123"/>
                  </a:lnTo>
                  <a:lnTo>
                    <a:pt x="88167" y="883719"/>
                  </a:lnTo>
                  <a:lnTo>
                    <a:pt x="81113" y="882316"/>
                  </a:lnTo>
                  <a:lnTo>
                    <a:pt x="74264" y="880238"/>
                  </a:lnTo>
                  <a:lnTo>
                    <a:pt x="67619" y="877485"/>
                  </a:lnTo>
                  <a:lnTo>
                    <a:pt x="60974" y="874733"/>
                  </a:lnTo>
                  <a:lnTo>
                    <a:pt x="26996" y="848655"/>
                  </a:lnTo>
                  <a:lnTo>
                    <a:pt x="18460" y="837142"/>
                  </a:lnTo>
                  <a:lnTo>
                    <a:pt x="14464" y="831162"/>
                  </a:lnTo>
                  <a:lnTo>
                    <a:pt x="11090" y="824850"/>
                  </a:lnTo>
                  <a:lnTo>
                    <a:pt x="8338" y="818205"/>
                  </a:lnTo>
                  <a:lnTo>
                    <a:pt x="5585" y="811560"/>
                  </a:lnTo>
                  <a:lnTo>
                    <a:pt x="3507" y="804710"/>
                  </a:lnTo>
                  <a:lnTo>
                    <a:pt x="2104" y="797657"/>
                  </a:lnTo>
                  <a:lnTo>
                    <a:pt x="701" y="790602"/>
                  </a:lnTo>
                  <a:lnTo>
                    <a:pt x="0" y="783479"/>
                  </a:lnTo>
                  <a:lnTo>
                    <a:pt x="0" y="77628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499" y="4600574"/>
              <a:ext cx="190500" cy="1905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20749" y="4912715"/>
            <a:ext cx="44386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10" dirty="0">
                <a:solidFill>
                  <a:srgbClr val="4A5462"/>
                </a:solidFill>
                <a:latin typeface="Tahoma"/>
                <a:cs typeface="Tahoma"/>
              </a:rPr>
              <a:t>Warna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39823" y="4364735"/>
            <a:ext cx="835660" cy="948055"/>
            <a:chOff x="1639823" y="4364735"/>
            <a:chExt cx="835660" cy="948055"/>
          </a:xfrm>
        </p:grpSpPr>
        <p:sp>
          <p:nvSpPr>
            <p:cNvPr id="13" name="object 13"/>
            <p:cNvSpPr/>
            <p:nvPr/>
          </p:nvSpPr>
          <p:spPr>
            <a:xfrm>
              <a:off x="1639823" y="4364735"/>
              <a:ext cx="835660" cy="948055"/>
            </a:xfrm>
            <a:custGeom>
              <a:avLst/>
              <a:gdLst/>
              <a:ahLst/>
              <a:cxnLst/>
              <a:rect l="l" t="t" r="r" b="b"/>
              <a:pathLst>
                <a:path w="835660" h="948054">
                  <a:moveTo>
                    <a:pt x="835151" y="947927"/>
                  </a:moveTo>
                  <a:lnTo>
                    <a:pt x="0" y="947927"/>
                  </a:lnTo>
                  <a:lnTo>
                    <a:pt x="0" y="0"/>
                  </a:lnTo>
                  <a:lnTo>
                    <a:pt x="835151" y="0"/>
                  </a:lnTo>
                  <a:lnTo>
                    <a:pt x="835151" y="26288"/>
                  </a:lnTo>
                  <a:lnTo>
                    <a:pt x="141350" y="26288"/>
                  </a:lnTo>
                  <a:lnTo>
                    <a:pt x="131029" y="26787"/>
                  </a:lnTo>
                  <a:lnTo>
                    <a:pt x="91910" y="38674"/>
                  </a:lnTo>
                  <a:lnTo>
                    <a:pt x="60317" y="64627"/>
                  </a:lnTo>
                  <a:lnTo>
                    <a:pt x="41061" y="100694"/>
                  </a:lnTo>
                  <a:lnTo>
                    <a:pt x="36575" y="131063"/>
                  </a:lnTo>
                  <a:lnTo>
                    <a:pt x="36575" y="797813"/>
                  </a:lnTo>
                  <a:lnTo>
                    <a:pt x="44551" y="837908"/>
                  </a:lnTo>
                  <a:lnTo>
                    <a:pt x="67263" y="871900"/>
                  </a:lnTo>
                  <a:lnTo>
                    <a:pt x="101255" y="894612"/>
                  </a:lnTo>
                  <a:lnTo>
                    <a:pt x="141350" y="902588"/>
                  </a:lnTo>
                  <a:lnTo>
                    <a:pt x="835151" y="902588"/>
                  </a:lnTo>
                  <a:lnTo>
                    <a:pt x="835151" y="947927"/>
                  </a:lnTo>
                  <a:close/>
                </a:path>
                <a:path w="835660" h="948054">
                  <a:moveTo>
                    <a:pt x="835151" y="902588"/>
                  </a:moveTo>
                  <a:lnTo>
                    <a:pt x="693800" y="902588"/>
                  </a:lnTo>
                  <a:lnTo>
                    <a:pt x="704122" y="902090"/>
                  </a:lnTo>
                  <a:lnTo>
                    <a:pt x="714245" y="900594"/>
                  </a:lnTo>
                  <a:lnTo>
                    <a:pt x="752021" y="884946"/>
                  </a:lnTo>
                  <a:lnTo>
                    <a:pt x="780934" y="856033"/>
                  </a:lnTo>
                  <a:lnTo>
                    <a:pt x="796581" y="818257"/>
                  </a:lnTo>
                  <a:lnTo>
                    <a:pt x="798575" y="797813"/>
                  </a:lnTo>
                  <a:lnTo>
                    <a:pt x="798575" y="131063"/>
                  </a:lnTo>
                  <a:lnTo>
                    <a:pt x="790599" y="90967"/>
                  </a:lnTo>
                  <a:lnTo>
                    <a:pt x="767887" y="56976"/>
                  </a:lnTo>
                  <a:lnTo>
                    <a:pt x="733896" y="34263"/>
                  </a:lnTo>
                  <a:lnTo>
                    <a:pt x="693800" y="26288"/>
                  </a:lnTo>
                  <a:lnTo>
                    <a:pt x="835151" y="26288"/>
                  </a:lnTo>
                  <a:lnTo>
                    <a:pt x="835151" y="9025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1637" y="4386262"/>
              <a:ext cx="771525" cy="885825"/>
            </a:xfrm>
            <a:custGeom>
              <a:avLst/>
              <a:gdLst/>
              <a:ahLst/>
              <a:cxnLst/>
              <a:rect l="l" t="t" r="r" b="b"/>
              <a:pathLst>
                <a:path w="771525" h="885825">
                  <a:moveTo>
                    <a:pt x="669179" y="885824"/>
                  </a:moveTo>
                  <a:lnTo>
                    <a:pt x="102345" y="885824"/>
                  </a:lnTo>
                  <a:lnTo>
                    <a:pt x="95221" y="885123"/>
                  </a:lnTo>
                  <a:lnTo>
                    <a:pt x="54661" y="871360"/>
                  </a:lnTo>
                  <a:lnTo>
                    <a:pt x="22456" y="843122"/>
                  </a:lnTo>
                  <a:lnTo>
                    <a:pt x="3507" y="804710"/>
                  </a:lnTo>
                  <a:lnTo>
                    <a:pt x="0" y="783479"/>
                  </a:lnTo>
                  <a:lnTo>
                    <a:pt x="0" y="776287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669179" y="0"/>
                  </a:lnTo>
                  <a:lnTo>
                    <a:pt x="710550" y="11090"/>
                  </a:lnTo>
                  <a:lnTo>
                    <a:pt x="744527" y="37168"/>
                  </a:lnTo>
                  <a:lnTo>
                    <a:pt x="765939" y="74263"/>
                  </a:lnTo>
                  <a:lnTo>
                    <a:pt x="771525" y="102344"/>
                  </a:lnTo>
                  <a:lnTo>
                    <a:pt x="771525" y="783479"/>
                  </a:lnTo>
                  <a:lnTo>
                    <a:pt x="760434" y="824850"/>
                  </a:lnTo>
                  <a:lnTo>
                    <a:pt x="734356" y="858827"/>
                  </a:lnTo>
                  <a:lnTo>
                    <a:pt x="697260" y="880238"/>
                  </a:lnTo>
                  <a:lnTo>
                    <a:pt x="676303" y="885123"/>
                  </a:lnTo>
                  <a:lnTo>
                    <a:pt x="669179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1637" y="4386262"/>
              <a:ext cx="771525" cy="885825"/>
            </a:xfrm>
            <a:custGeom>
              <a:avLst/>
              <a:gdLst/>
              <a:ahLst/>
              <a:cxnLst/>
              <a:rect l="l" t="t" r="r" b="b"/>
              <a:pathLst>
                <a:path w="771525" h="885825">
                  <a:moveTo>
                    <a:pt x="0" y="7762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661987" y="0"/>
                  </a:lnTo>
                  <a:lnTo>
                    <a:pt x="669179" y="0"/>
                  </a:lnTo>
                  <a:lnTo>
                    <a:pt x="676303" y="701"/>
                  </a:lnTo>
                  <a:lnTo>
                    <a:pt x="683357" y="2104"/>
                  </a:lnTo>
                  <a:lnTo>
                    <a:pt x="690411" y="3507"/>
                  </a:lnTo>
                  <a:lnTo>
                    <a:pt x="697260" y="5585"/>
                  </a:lnTo>
                  <a:lnTo>
                    <a:pt x="703905" y="8337"/>
                  </a:lnTo>
                  <a:lnTo>
                    <a:pt x="710550" y="11090"/>
                  </a:lnTo>
                  <a:lnTo>
                    <a:pt x="716862" y="14464"/>
                  </a:lnTo>
                  <a:lnTo>
                    <a:pt x="722843" y="18460"/>
                  </a:lnTo>
                  <a:lnTo>
                    <a:pt x="728823" y="22455"/>
                  </a:lnTo>
                  <a:lnTo>
                    <a:pt x="734356" y="26996"/>
                  </a:lnTo>
                  <a:lnTo>
                    <a:pt x="739442" y="32082"/>
                  </a:lnTo>
                  <a:lnTo>
                    <a:pt x="744527" y="37168"/>
                  </a:lnTo>
                  <a:lnTo>
                    <a:pt x="749068" y="42701"/>
                  </a:lnTo>
                  <a:lnTo>
                    <a:pt x="753064" y="48681"/>
                  </a:lnTo>
                  <a:lnTo>
                    <a:pt x="757060" y="54661"/>
                  </a:lnTo>
                  <a:lnTo>
                    <a:pt x="760434" y="60973"/>
                  </a:lnTo>
                  <a:lnTo>
                    <a:pt x="763186" y="67618"/>
                  </a:lnTo>
                  <a:lnTo>
                    <a:pt x="765939" y="74263"/>
                  </a:lnTo>
                  <a:lnTo>
                    <a:pt x="768016" y="81113"/>
                  </a:lnTo>
                  <a:lnTo>
                    <a:pt x="769420" y="88167"/>
                  </a:lnTo>
                  <a:lnTo>
                    <a:pt x="770823" y="95221"/>
                  </a:lnTo>
                  <a:lnTo>
                    <a:pt x="771525" y="102344"/>
                  </a:lnTo>
                  <a:lnTo>
                    <a:pt x="771525" y="109537"/>
                  </a:lnTo>
                  <a:lnTo>
                    <a:pt x="771525" y="776287"/>
                  </a:lnTo>
                  <a:lnTo>
                    <a:pt x="771525" y="783479"/>
                  </a:lnTo>
                  <a:lnTo>
                    <a:pt x="770823" y="790602"/>
                  </a:lnTo>
                  <a:lnTo>
                    <a:pt x="757060" y="831162"/>
                  </a:lnTo>
                  <a:lnTo>
                    <a:pt x="728823" y="863368"/>
                  </a:lnTo>
                  <a:lnTo>
                    <a:pt x="703905" y="877485"/>
                  </a:lnTo>
                  <a:lnTo>
                    <a:pt x="697260" y="880238"/>
                  </a:lnTo>
                  <a:lnTo>
                    <a:pt x="690411" y="882316"/>
                  </a:lnTo>
                  <a:lnTo>
                    <a:pt x="683357" y="883719"/>
                  </a:lnTo>
                  <a:lnTo>
                    <a:pt x="676303" y="885123"/>
                  </a:lnTo>
                  <a:lnTo>
                    <a:pt x="669179" y="885824"/>
                  </a:lnTo>
                  <a:lnTo>
                    <a:pt x="661987" y="885824"/>
                  </a:lnTo>
                  <a:lnTo>
                    <a:pt x="109537" y="885824"/>
                  </a:lnTo>
                  <a:lnTo>
                    <a:pt x="102345" y="885824"/>
                  </a:lnTo>
                  <a:lnTo>
                    <a:pt x="95221" y="885123"/>
                  </a:lnTo>
                  <a:lnTo>
                    <a:pt x="88167" y="883719"/>
                  </a:lnTo>
                  <a:lnTo>
                    <a:pt x="81113" y="882316"/>
                  </a:lnTo>
                  <a:lnTo>
                    <a:pt x="74264" y="880238"/>
                  </a:lnTo>
                  <a:lnTo>
                    <a:pt x="67619" y="877485"/>
                  </a:lnTo>
                  <a:lnTo>
                    <a:pt x="60974" y="874733"/>
                  </a:lnTo>
                  <a:lnTo>
                    <a:pt x="26996" y="848655"/>
                  </a:lnTo>
                  <a:lnTo>
                    <a:pt x="18460" y="837142"/>
                  </a:lnTo>
                  <a:lnTo>
                    <a:pt x="14464" y="831162"/>
                  </a:lnTo>
                  <a:lnTo>
                    <a:pt x="11090" y="824850"/>
                  </a:lnTo>
                  <a:lnTo>
                    <a:pt x="8338" y="818205"/>
                  </a:lnTo>
                  <a:lnTo>
                    <a:pt x="5585" y="811560"/>
                  </a:lnTo>
                  <a:lnTo>
                    <a:pt x="3507" y="804710"/>
                  </a:lnTo>
                  <a:lnTo>
                    <a:pt x="2104" y="797657"/>
                  </a:lnTo>
                  <a:lnTo>
                    <a:pt x="701" y="790602"/>
                  </a:lnTo>
                  <a:lnTo>
                    <a:pt x="0" y="783479"/>
                  </a:lnTo>
                  <a:lnTo>
                    <a:pt x="0" y="77628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0202" y="4616449"/>
              <a:ext cx="180975" cy="1460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818927" y="4912715"/>
            <a:ext cx="47688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10" dirty="0">
                <a:solidFill>
                  <a:srgbClr val="4A5462"/>
                </a:solidFill>
                <a:latin typeface="Tahoma"/>
                <a:cs typeface="Tahoma"/>
              </a:rPr>
              <a:t>Ukuran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72511" y="4364735"/>
            <a:ext cx="817244" cy="948055"/>
            <a:chOff x="2572511" y="4364735"/>
            <a:chExt cx="817244" cy="948055"/>
          </a:xfrm>
        </p:grpSpPr>
        <p:sp>
          <p:nvSpPr>
            <p:cNvPr id="19" name="object 19"/>
            <p:cNvSpPr/>
            <p:nvPr/>
          </p:nvSpPr>
          <p:spPr>
            <a:xfrm>
              <a:off x="2572511" y="4364735"/>
              <a:ext cx="817244" cy="948055"/>
            </a:xfrm>
            <a:custGeom>
              <a:avLst/>
              <a:gdLst/>
              <a:ahLst/>
              <a:cxnLst/>
              <a:rect l="l" t="t" r="r" b="b"/>
              <a:pathLst>
                <a:path w="817245" h="948054">
                  <a:moveTo>
                    <a:pt x="816863" y="947927"/>
                  </a:moveTo>
                  <a:lnTo>
                    <a:pt x="0" y="947927"/>
                  </a:lnTo>
                  <a:lnTo>
                    <a:pt x="0" y="0"/>
                  </a:lnTo>
                  <a:lnTo>
                    <a:pt x="816863" y="0"/>
                  </a:lnTo>
                  <a:lnTo>
                    <a:pt x="816863" y="26288"/>
                  </a:lnTo>
                  <a:lnTo>
                    <a:pt x="142112" y="26288"/>
                  </a:lnTo>
                  <a:lnTo>
                    <a:pt x="131791" y="26787"/>
                  </a:lnTo>
                  <a:lnTo>
                    <a:pt x="92672" y="38674"/>
                  </a:lnTo>
                  <a:lnTo>
                    <a:pt x="61079" y="64627"/>
                  </a:lnTo>
                  <a:lnTo>
                    <a:pt x="41824" y="100694"/>
                  </a:lnTo>
                  <a:lnTo>
                    <a:pt x="37337" y="131063"/>
                  </a:lnTo>
                  <a:lnTo>
                    <a:pt x="37337" y="797813"/>
                  </a:lnTo>
                  <a:lnTo>
                    <a:pt x="45313" y="837908"/>
                  </a:lnTo>
                  <a:lnTo>
                    <a:pt x="68025" y="871900"/>
                  </a:lnTo>
                  <a:lnTo>
                    <a:pt x="102017" y="894612"/>
                  </a:lnTo>
                  <a:lnTo>
                    <a:pt x="142112" y="902588"/>
                  </a:lnTo>
                  <a:lnTo>
                    <a:pt x="816863" y="902588"/>
                  </a:lnTo>
                  <a:lnTo>
                    <a:pt x="816863" y="947927"/>
                  </a:lnTo>
                  <a:close/>
                </a:path>
                <a:path w="817245" h="948054">
                  <a:moveTo>
                    <a:pt x="816863" y="902588"/>
                  </a:moveTo>
                  <a:lnTo>
                    <a:pt x="675512" y="902588"/>
                  </a:lnTo>
                  <a:lnTo>
                    <a:pt x="685834" y="902090"/>
                  </a:lnTo>
                  <a:lnTo>
                    <a:pt x="695957" y="900594"/>
                  </a:lnTo>
                  <a:lnTo>
                    <a:pt x="733733" y="884946"/>
                  </a:lnTo>
                  <a:lnTo>
                    <a:pt x="762645" y="856033"/>
                  </a:lnTo>
                  <a:lnTo>
                    <a:pt x="778293" y="818257"/>
                  </a:lnTo>
                  <a:lnTo>
                    <a:pt x="780287" y="797813"/>
                  </a:lnTo>
                  <a:lnTo>
                    <a:pt x="780287" y="131063"/>
                  </a:lnTo>
                  <a:lnTo>
                    <a:pt x="772311" y="90967"/>
                  </a:lnTo>
                  <a:lnTo>
                    <a:pt x="749599" y="56976"/>
                  </a:lnTo>
                  <a:lnTo>
                    <a:pt x="715608" y="34263"/>
                  </a:lnTo>
                  <a:lnTo>
                    <a:pt x="675512" y="26288"/>
                  </a:lnTo>
                  <a:lnTo>
                    <a:pt x="816863" y="26288"/>
                  </a:lnTo>
                  <a:lnTo>
                    <a:pt x="816863" y="9025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05087" y="4386262"/>
              <a:ext cx="752475" cy="885825"/>
            </a:xfrm>
            <a:custGeom>
              <a:avLst/>
              <a:gdLst/>
              <a:ahLst/>
              <a:cxnLst/>
              <a:rect l="l" t="t" r="r" b="b"/>
              <a:pathLst>
                <a:path w="752475" h="885825">
                  <a:moveTo>
                    <a:pt x="650130" y="885824"/>
                  </a:moveTo>
                  <a:lnTo>
                    <a:pt x="102345" y="885824"/>
                  </a:lnTo>
                  <a:lnTo>
                    <a:pt x="95222" y="885123"/>
                  </a:lnTo>
                  <a:lnTo>
                    <a:pt x="54662" y="871360"/>
                  </a:lnTo>
                  <a:lnTo>
                    <a:pt x="22456" y="843122"/>
                  </a:lnTo>
                  <a:lnTo>
                    <a:pt x="3507" y="804710"/>
                  </a:lnTo>
                  <a:lnTo>
                    <a:pt x="0" y="783479"/>
                  </a:lnTo>
                  <a:lnTo>
                    <a:pt x="0" y="776287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650130" y="0"/>
                  </a:lnTo>
                  <a:lnTo>
                    <a:pt x="691500" y="11090"/>
                  </a:lnTo>
                  <a:lnTo>
                    <a:pt x="725477" y="37168"/>
                  </a:lnTo>
                  <a:lnTo>
                    <a:pt x="746889" y="74263"/>
                  </a:lnTo>
                  <a:lnTo>
                    <a:pt x="752475" y="102344"/>
                  </a:lnTo>
                  <a:lnTo>
                    <a:pt x="752475" y="783479"/>
                  </a:lnTo>
                  <a:lnTo>
                    <a:pt x="741384" y="824850"/>
                  </a:lnTo>
                  <a:lnTo>
                    <a:pt x="715306" y="858827"/>
                  </a:lnTo>
                  <a:lnTo>
                    <a:pt x="678210" y="880238"/>
                  </a:lnTo>
                  <a:lnTo>
                    <a:pt x="657253" y="885123"/>
                  </a:lnTo>
                  <a:lnTo>
                    <a:pt x="650130" y="88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05087" y="4386262"/>
              <a:ext cx="752475" cy="885825"/>
            </a:xfrm>
            <a:custGeom>
              <a:avLst/>
              <a:gdLst/>
              <a:ahLst/>
              <a:cxnLst/>
              <a:rect l="l" t="t" r="r" b="b"/>
              <a:pathLst>
                <a:path w="752475" h="885825">
                  <a:moveTo>
                    <a:pt x="0" y="7762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2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8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642937" y="0"/>
                  </a:lnTo>
                  <a:lnTo>
                    <a:pt x="650130" y="0"/>
                  </a:lnTo>
                  <a:lnTo>
                    <a:pt x="657253" y="701"/>
                  </a:lnTo>
                  <a:lnTo>
                    <a:pt x="697812" y="14464"/>
                  </a:lnTo>
                  <a:lnTo>
                    <a:pt x="703793" y="18460"/>
                  </a:lnTo>
                  <a:lnTo>
                    <a:pt x="709773" y="22455"/>
                  </a:lnTo>
                  <a:lnTo>
                    <a:pt x="715306" y="26996"/>
                  </a:lnTo>
                  <a:lnTo>
                    <a:pt x="720392" y="32082"/>
                  </a:lnTo>
                  <a:lnTo>
                    <a:pt x="725477" y="37168"/>
                  </a:lnTo>
                  <a:lnTo>
                    <a:pt x="730018" y="42701"/>
                  </a:lnTo>
                  <a:lnTo>
                    <a:pt x="734014" y="48681"/>
                  </a:lnTo>
                  <a:lnTo>
                    <a:pt x="738010" y="54661"/>
                  </a:lnTo>
                  <a:lnTo>
                    <a:pt x="741384" y="60973"/>
                  </a:lnTo>
                  <a:lnTo>
                    <a:pt x="744136" y="67618"/>
                  </a:lnTo>
                  <a:lnTo>
                    <a:pt x="746889" y="74263"/>
                  </a:lnTo>
                  <a:lnTo>
                    <a:pt x="748966" y="81113"/>
                  </a:lnTo>
                  <a:lnTo>
                    <a:pt x="750370" y="88167"/>
                  </a:lnTo>
                  <a:lnTo>
                    <a:pt x="751773" y="95221"/>
                  </a:lnTo>
                  <a:lnTo>
                    <a:pt x="752475" y="102344"/>
                  </a:lnTo>
                  <a:lnTo>
                    <a:pt x="752475" y="109537"/>
                  </a:lnTo>
                  <a:lnTo>
                    <a:pt x="752475" y="776287"/>
                  </a:lnTo>
                  <a:lnTo>
                    <a:pt x="752475" y="783479"/>
                  </a:lnTo>
                  <a:lnTo>
                    <a:pt x="751773" y="790602"/>
                  </a:lnTo>
                  <a:lnTo>
                    <a:pt x="750370" y="797657"/>
                  </a:lnTo>
                  <a:lnTo>
                    <a:pt x="748966" y="804710"/>
                  </a:lnTo>
                  <a:lnTo>
                    <a:pt x="730018" y="843122"/>
                  </a:lnTo>
                  <a:lnTo>
                    <a:pt x="697812" y="871360"/>
                  </a:lnTo>
                  <a:lnTo>
                    <a:pt x="684855" y="877485"/>
                  </a:lnTo>
                  <a:lnTo>
                    <a:pt x="678210" y="880238"/>
                  </a:lnTo>
                  <a:lnTo>
                    <a:pt x="671361" y="882316"/>
                  </a:lnTo>
                  <a:lnTo>
                    <a:pt x="664307" y="883719"/>
                  </a:lnTo>
                  <a:lnTo>
                    <a:pt x="657253" y="885123"/>
                  </a:lnTo>
                  <a:lnTo>
                    <a:pt x="650130" y="885824"/>
                  </a:lnTo>
                  <a:lnTo>
                    <a:pt x="642937" y="885824"/>
                  </a:lnTo>
                  <a:lnTo>
                    <a:pt x="109537" y="885824"/>
                  </a:lnTo>
                  <a:lnTo>
                    <a:pt x="102345" y="885824"/>
                  </a:lnTo>
                  <a:lnTo>
                    <a:pt x="95222" y="885123"/>
                  </a:lnTo>
                  <a:lnTo>
                    <a:pt x="88168" y="883719"/>
                  </a:lnTo>
                  <a:lnTo>
                    <a:pt x="81113" y="882316"/>
                  </a:lnTo>
                  <a:lnTo>
                    <a:pt x="74264" y="880238"/>
                  </a:lnTo>
                  <a:lnTo>
                    <a:pt x="67619" y="877485"/>
                  </a:lnTo>
                  <a:lnTo>
                    <a:pt x="60974" y="874733"/>
                  </a:lnTo>
                  <a:lnTo>
                    <a:pt x="26997" y="848655"/>
                  </a:lnTo>
                  <a:lnTo>
                    <a:pt x="18460" y="837142"/>
                  </a:lnTo>
                  <a:lnTo>
                    <a:pt x="14464" y="831162"/>
                  </a:lnTo>
                  <a:lnTo>
                    <a:pt x="701" y="790602"/>
                  </a:lnTo>
                  <a:lnTo>
                    <a:pt x="0" y="783479"/>
                  </a:lnTo>
                  <a:lnTo>
                    <a:pt x="0" y="77628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1717" y="4629149"/>
              <a:ext cx="171450" cy="13335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750442" y="4912715"/>
            <a:ext cx="46164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10" dirty="0">
                <a:solidFill>
                  <a:srgbClr val="4A5462"/>
                </a:solidFill>
                <a:latin typeface="Tahoma"/>
                <a:cs typeface="Tahoma"/>
              </a:rPr>
              <a:t>Layout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63043" y="2657868"/>
            <a:ext cx="5450205" cy="3106420"/>
          </a:xfrm>
          <a:custGeom>
            <a:avLst/>
            <a:gdLst/>
            <a:ahLst/>
            <a:cxnLst/>
            <a:rect l="l" t="t" r="r" b="b"/>
            <a:pathLst>
              <a:path w="5450205" h="3106420">
                <a:moveTo>
                  <a:pt x="5449824" y="0"/>
                </a:moveTo>
                <a:lnTo>
                  <a:pt x="5266944" y="0"/>
                </a:lnTo>
                <a:lnTo>
                  <a:pt x="5266944" y="228219"/>
                </a:lnTo>
                <a:lnTo>
                  <a:pt x="5266944" y="2685669"/>
                </a:lnTo>
                <a:lnTo>
                  <a:pt x="5260835" y="2727071"/>
                </a:lnTo>
                <a:lnTo>
                  <a:pt x="5242890" y="2765056"/>
                </a:lnTo>
                <a:lnTo>
                  <a:pt x="5214671" y="2796159"/>
                </a:lnTo>
                <a:lnTo>
                  <a:pt x="5178755" y="2817660"/>
                </a:lnTo>
                <a:lnTo>
                  <a:pt x="5138153" y="2827858"/>
                </a:lnTo>
                <a:lnTo>
                  <a:pt x="5124069" y="2828544"/>
                </a:lnTo>
                <a:lnTo>
                  <a:pt x="323469" y="2828544"/>
                </a:lnTo>
                <a:lnTo>
                  <a:pt x="282067" y="2822422"/>
                </a:lnTo>
                <a:lnTo>
                  <a:pt x="244081" y="2804477"/>
                </a:lnTo>
                <a:lnTo>
                  <a:pt x="212979" y="2776258"/>
                </a:lnTo>
                <a:lnTo>
                  <a:pt x="191477" y="2740342"/>
                </a:lnTo>
                <a:lnTo>
                  <a:pt x="181279" y="2699740"/>
                </a:lnTo>
                <a:lnTo>
                  <a:pt x="180594" y="2685669"/>
                </a:lnTo>
                <a:lnTo>
                  <a:pt x="180594" y="228219"/>
                </a:lnTo>
                <a:lnTo>
                  <a:pt x="186715" y="186804"/>
                </a:lnTo>
                <a:lnTo>
                  <a:pt x="204660" y="148818"/>
                </a:lnTo>
                <a:lnTo>
                  <a:pt x="232879" y="117716"/>
                </a:lnTo>
                <a:lnTo>
                  <a:pt x="268795" y="96215"/>
                </a:lnTo>
                <a:lnTo>
                  <a:pt x="309397" y="86017"/>
                </a:lnTo>
                <a:lnTo>
                  <a:pt x="323469" y="85344"/>
                </a:lnTo>
                <a:lnTo>
                  <a:pt x="5124069" y="85344"/>
                </a:lnTo>
                <a:lnTo>
                  <a:pt x="5165483" y="91452"/>
                </a:lnTo>
                <a:lnTo>
                  <a:pt x="5203469" y="109397"/>
                </a:lnTo>
                <a:lnTo>
                  <a:pt x="5234571" y="137617"/>
                </a:lnTo>
                <a:lnTo>
                  <a:pt x="5256073" y="173532"/>
                </a:lnTo>
                <a:lnTo>
                  <a:pt x="5266271" y="214134"/>
                </a:lnTo>
                <a:lnTo>
                  <a:pt x="5266944" y="228219"/>
                </a:lnTo>
                <a:lnTo>
                  <a:pt x="5266944" y="0"/>
                </a:lnTo>
                <a:lnTo>
                  <a:pt x="0" y="0"/>
                </a:lnTo>
                <a:lnTo>
                  <a:pt x="0" y="3105912"/>
                </a:lnTo>
                <a:lnTo>
                  <a:pt x="5449824" y="3105912"/>
                </a:lnTo>
                <a:lnTo>
                  <a:pt x="5449824" y="2828544"/>
                </a:lnTo>
                <a:lnTo>
                  <a:pt x="5449824" y="85344"/>
                </a:lnTo>
                <a:lnTo>
                  <a:pt x="5449824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  <a:effectLst>
            <a:softEdge rad="127000"/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6338887" y="2738437"/>
            <a:ext cx="5095875" cy="2752725"/>
          </a:xfrm>
          <a:custGeom>
            <a:avLst/>
            <a:gdLst/>
            <a:ahLst/>
            <a:cxnLst/>
            <a:rect l="l" t="t" r="r" b="b"/>
            <a:pathLst>
              <a:path w="5095875" h="2752725">
                <a:moveTo>
                  <a:pt x="4948237" y="2752724"/>
                </a:moveTo>
                <a:lnTo>
                  <a:pt x="147637" y="2752724"/>
                </a:lnTo>
                <a:lnTo>
                  <a:pt x="140384" y="2752547"/>
                </a:lnTo>
                <a:lnTo>
                  <a:pt x="97907" y="2744098"/>
                </a:lnTo>
                <a:lnTo>
                  <a:pt x="59681" y="2723665"/>
                </a:lnTo>
                <a:lnTo>
                  <a:pt x="29057" y="2693042"/>
                </a:lnTo>
                <a:lnTo>
                  <a:pt x="8626" y="2654816"/>
                </a:lnTo>
                <a:lnTo>
                  <a:pt x="177" y="2612340"/>
                </a:lnTo>
                <a:lnTo>
                  <a:pt x="0" y="2605087"/>
                </a:lnTo>
                <a:lnTo>
                  <a:pt x="0" y="147637"/>
                </a:lnTo>
                <a:lnTo>
                  <a:pt x="6355" y="104779"/>
                </a:lnTo>
                <a:lnTo>
                  <a:pt x="24880" y="65614"/>
                </a:lnTo>
                <a:lnTo>
                  <a:pt x="53975" y="33510"/>
                </a:lnTo>
                <a:lnTo>
                  <a:pt x="91138" y="11238"/>
                </a:lnTo>
                <a:lnTo>
                  <a:pt x="133166" y="709"/>
                </a:lnTo>
                <a:lnTo>
                  <a:pt x="147637" y="0"/>
                </a:lnTo>
                <a:lnTo>
                  <a:pt x="4948237" y="0"/>
                </a:lnTo>
                <a:lnTo>
                  <a:pt x="4991092" y="6355"/>
                </a:lnTo>
                <a:lnTo>
                  <a:pt x="5030258" y="24881"/>
                </a:lnTo>
                <a:lnTo>
                  <a:pt x="5062362" y="53975"/>
                </a:lnTo>
                <a:lnTo>
                  <a:pt x="5084634" y="91138"/>
                </a:lnTo>
                <a:lnTo>
                  <a:pt x="5095164" y="133166"/>
                </a:lnTo>
                <a:lnTo>
                  <a:pt x="5095874" y="147637"/>
                </a:lnTo>
                <a:lnTo>
                  <a:pt x="5095874" y="2605087"/>
                </a:lnTo>
                <a:lnTo>
                  <a:pt x="5089517" y="2647944"/>
                </a:lnTo>
                <a:lnTo>
                  <a:pt x="5070992" y="2687110"/>
                </a:lnTo>
                <a:lnTo>
                  <a:pt x="5041897" y="2719213"/>
                </a:lnTo>
                <a:lnTo>
                  <a:pt x="5004733" y="2741486"/>
                </a:lnTo>
                <a:lnTo>
                  <a:pt x="4962707" y="2752015"/>
                </a:lnTo>
                <a:lnTo>
                  <a:pt x="4948237" y="2752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38887" y="2738437"/>
            <a:ext cx="5095875" cy="2752725"/>
          </a:xfrm>
          <a:custGeom>
            <a:avLst/>
            <a:gdLst/>
            <a:ahLst/>
            <a:cxnLst/>
            <a:rect l="l" t="t" r="r" b="b"/>
            <a:pathLst>
              <a:path w="5095875" h="2752725">
                <a:moveTo>
                  <a:pt x="0" y="2605087"/>
                </a:move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7" y="59681"/>
                </a:lnTo>
                <a:lnTo>
                  <a:pt x="59681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4948237" y="0"/>
                </a:lnTo>
                <a:lnTo>
                  <a:pt x="4991092" y="6355"/>
                </a:lnTo>
                <a:lnTo>
                  <a:pt x="5030258" y="24881"/>
                </a:lnTo>
                <a:lnTo>
                  <a:pt x="5062362" y="53975"/>
                </a:lnTo>
                <a:lnTo>
                  <a:pt x="5084634" y="91138"/>
                </a:lnTo>
                <a:lnTo>
                  <a:pt x="5095164" y="133166"/>
                </a:lnTo>
                <a:lnTo>
                  <a:pt x="5095874" y="147637"/>
                </a:lnTo>
                <a:lnTo>
                  <a:pt x="5095874" y="2605087"/>
                </a:lnTo>
                <a:lnTo>
                  <a:pt x="5089517" y="2647944"/>
                </a:lnTo>
                <a:lnTo>
                  <a:pt x="5070992" y="2687110"/>
                </a:lnTo>
                <a:lnTo>
                  <a:pt x="5041897" y="2719213"/>
                </a:lnTo>
                <a:lnTo>
                  <a:pt x="5004733" y="2741486"/>
                </a:lnTo>
                <a:lnTo>
                  <a:pt x="4962707" y="2752015"/>
                </a:lnTo>
                <a:lnTo>
                  <a:pt x="4948237" y="2752724"/>
                </a:lnTo>
                <a:lnTo>
                  <a:pt x="147637" y="2752724"/>
                </a:lnTo>
                <a:lnTo>
                  <a:pt x="104779" y="2746369"/>
                </a:lnTo>
                <a:lnTo>
                  <a:pt x="65613" y="2727843"/>
                </a:lnTo>
                <a:lnTo>
                  <a:pt x="33510" y="2698748"/>
                </a:lnTo>
                <a:lnTo>
                  <a:pt x="11238" y="2661585"/>
                </a:lnTo>
                <a:lnTo>
                  <a:pt x="709" y="2619557"/>
                </a:lnTo>
                <a:lnTo>
                  <a:pt x="0" y="2605087"/>
                </a:lnTo>
                <a:close/>
              </a:path>
            </a:pathLst>
          </a:custGeom>
          <a:ln w="9524">
            <a:solidFill>
              <a:srgbClr val="FFF6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48449" y="3809999"/>
            <a:ext cx="4476750" cy="1371600"/>
          </a:xfrm>
          <a:custGeom>
            <a:avLst/>
            <a:gdLst/>
            <a:ahLst/>
            <a:cxnLst/>
            <a:rect l="l" t="t" r="r" b="b"/>
            <a:pathLst>
              <a:path w="4476750" h="1371600">
                <a:moveTo>
                  <a:pt x="4405552" y="1371599"/>
                </a:moveTo>
                <a:lnTo>
                  <a:pt x="71196" y="1371599"/>
                </a:lnTo>
                <a:lnTo>
                  <a:pt x="66240" y="1371110"/>
                </a:lnTo>
                <a:lnTo>
                  <a:pt x="29705" y="1355977"/>
                </a:lnTo>
                <a:lnTo>
                  <a:pt x="3885" y="1319937"/>
                </a:lnTo>
                <a:lnTo>
                  <a:pt x="0" y="1300403"/>
                </a:lnTo>
                <a:lnTo>
                  <a:pt x="0" y="12953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405552" y="0"/>
                </a:lnTo>
                <a:lnTo>
                  <a:pt x="4447042" y="15621"/>
                </a:lnTo>
                <a:lnTo>
                  <a:pt x="4472861" y="51661"/>
                </a:lnTo>
                <a:lnTo>
                  <a:pt x="4476748" y="71196"/>
                </a:lnTo>
                <a:lnTo>
                  <a:pt x="4476748" y="1300403"/>
                </a:lnTo>
                <a:lnTo>
                  <a:pt x="4461126" y="1341894"/>
                </a:lnTo>
                <a:lnTo>
                  <a:pt x="4425086" y="1367712"/>
                </a:lnTo>
                <a:lnTo>
                  <a:pt x="4410507" y="1371110"/>
                </a:lnTo>
                <a:lnTo>
                  <a:pt x="4405552" y="1371599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48449" y="3047999"/>
            <a:ext cx="114299" cy="1142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8949" y="3047999"/>
            <a:ext cx="114299" cy="1142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29449" y="3047999"/>
            <a:ext cx="114300" cy="1142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635749" y="3386277"/>
            <a:ext cx="1591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6A7280"/>
                </a:solidFill>
                <a:latin typeface="Tahoma"/>
                <a:cs typeface="Tahoma"/>
              </a:rPr>
              <a:t>Struktur</a:t>
            </a:r>
            <a:r>
              <a:rPr sz="1400" spc="-25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6A7280"/>
                </a:solidFill>
                <a:latin typeface="Tahoma"/>
                <a:cs typeface="Tahoma"/>
              </a:rPr>
              <a:t>Dasar</a:t>
            </a:r>
            <a:r>
              <a:rPr sz="1400" spc="-25" dirty="0">
                <a:solidFill>
                  <a:srgbClr val="6A7280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6A7280"/>
                </a:solidFill>
                <a:latin typeface="Tahoma"/>
                <a:cs typeface="Tahoma"/>
              </a:rPr>
              <a:t>CSS: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88150" y="3930650"/>
            <a:ext cx="4832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h1 </a:t>
            </a: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88150" y="4159249"/>
            <a:ext cx="2312035" cy="825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color: </a:t>
            </a:r>
            <a:r>
              <a:rPr sz="1500" spc="-10" dirty="0">
                <a:solidFill>
                  <a:srgbClr val="4ADE80"/>
                </a:solidFill>
                <a:latin typeface="Courier New"/>
                <a:cs typeface="Courier New"/>
              </a:rPr>
              <a:t>blue;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font-size: </a:t>
            </a:r>
            <a:r>
              <a:rPr sz="1500" spc="-10" dirty="0">
                <a:solidFill>
                  <a:srgbClr val="4ADE80"/>
                </a:solidFill>
                <a:latin typeface="Courier New"/>
                <a:cs typeface="Courier New"/>
              </a:rPr>
              <a:t>24px;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647699"/>
            <a:ext cx="266700" cy="266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310" dirty="0"/>
              <a:t>1.</a:t>
            </a:r>
            <a:r>
              <a:rPr sz="3700" spc="-20" dirty="0"/>
              <a:t> </a:t>
            </a:r>
            <a:r>
              <a:rPr sz="3700" spc="-35" dirty="0">
                <a:solidFill>
                  <a:srgbClr val="E9580C"/>
                </a:solidFill>
              </a:rPr>
              <a:t>Selector</a:t>
            </a:r>
            <a:endParaRPr sz="3700"/>
          </a:p>
        </p:txBody>
      </p:sp>
      <p:sp>
        <p:nvSpPr>
          <p:cNvPr id="7" name="object 7"/>
          <p:cNvSpPr/>
          <p:nvPr/>
        </p:nvSpPr>
        <p:spPr>
          <a:xfrm>
            <a:off x="790574" y="3124199"/>
            <a:ext cx="5086350" cy="1914525"/>
          </a:xfrm>
          <a:custGeom>
            <a:avLst/>
            <a:gdLst/>
            <a:ahLst/>
            <a:cxnLst/>
            <a:rect l="l" t="t" r="r" b="b"/>
            <a:pathLst>
              <a:path w="5086350" h="1914525">
                <a:moveTo>
                  <a:pt x="4933949" y="1914524"/>
                </a:moveTo>
                <a:lnTo>
                  <a:pt x="133349" y="1914524"/>
                </a:lnTo>
                <a:lnTo>
                  <a:pt x="126798" y="1914341"/>
                </a:lnTo>
                <a:lnTo>
                  <a:pt x="88432" y="1905619"/>
                </a:lnTo>
                <a:lnTo>
                  <a:pt x="53906" y="1884528"/>
                </a:lnTo>
                <a:lnTo>
                  <a:pt x="26246" y="1852916"/>
                </a:lnTo>
                <a:lnTo>
                  <a:pt x="7791" y="1813458"/>
                </a:lnTo>
                <a:lnTo>
                  <a:pt x="160" y="1769611"/>
                </a:lnTo>
                <a:lnTo>
                  <a:pt x="0" y="1762124"/>
                </a:lnTo>
                <a:lnTo>
                  <a:pt x="0" y="152399"/>
                </a:lnTo>
                <a:lnTo>
                  <a:pt x="5740" y="108160"/>
                </a:lnTo>
                <a:lnTo>
                  <a:pt x="22473" y="67730"/>
                </a:lnTo>
                <a:lnTo>
                  <a:pt x="48752" y="34591"/>
                </a:lnTo>
                <a:lnTo>
                  <a:pt x="82319" y="11600"/>
                </a:lnTo>
                <a:lnTo>
                  <a:pt x="120279" y="732"/>
                </a:lnTo>
                <a:lnTo>
                  <a:pt x="133349" y="0"/>
                </a:lnTo>
                <a:lnTo>
                  <a:pt x="4933949" y="0"/>
                </a:lnTo>
                <a:lnTo>
                  <a:pt x="4978189" y="6560"/>
                </a:lnTo>
                <a:lnTo>
                  <a:pt x="5018618" y="25683"/>
                </a:lnTo>
                <a:lnTo>
                  <a:pt x="5051757" y="55717"/>
                </a:lnTo>
                <a:lnTo>
                  <a:pt x="5074748" y="94078"/>
                </a:lnTo>
                <a:lnTo>
                  <a:pt x="5085617" y="137461"/>
                </a:lnTo>
                <a:lnTo>
                  <a:pt x="5086349" y="152399"/>
                </a:lnTo>
                <a:lnTo>
                  <a:pt x="5086349" y="1762124"/>
                </a:lnTo>
                <a:lnTo>
                  <a:pt x="5079788" y="1806364"/>
                </a:lnTo>
                <a:lnTo>
                  <a:pt x="5060665" y="1846792"/>
                </a:lnTo>
                <a:lnTo>
                  <a:pt x="5030631" y="1879932"/>
                </a:lnTo>
                <a:lnTo>
                  <a:pt x="4992269" y="1902923"/>
                </a:lnTo>
                <a:lnTo>
                  <a:pt x="4948887" y="1913792"/>
                </a:lnTo>
                <a:lnTo>
                  <a:pt x="4933949" y="1914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512" y="3124212"/>
            <a:ext cx="800100" cy="1914525"/>
          </a:xfrm>
          <a:custGeom>
            <a:avLst/>
            <a:gdLst/>
            <a:ahLst/>
            <a:cxnLst/>
            <a:rect l="l" t="t" r="r" b="b"/>
            <a:pathLst>
              <a:path w="800100" h="1914525">
                <a:moveTo>
                  <a:pt x="152400" y="0"/>
                </a:moveTo>
                <a:lnTo>
                  <a:pt x="108229" y="6515"/>
                </a:lnTo>
                <a:lnTo>
                  <a:pt x="67716" y="25654"/>
                </a:lnTo>
                <a:lnTo>
                  <a:pt x="34544" y="55753"/>
                </a:lnTo>
                <a:lnTo>
                  <a:pt x="11607" y="94068"/>
                </a:lnTo>
                <a:lnTo>
                  <a:pt x="736" y="137375"/>
                </a:lnTo>
                <a:lnTo>
                  <a:pt x="0" y="152400"/>
                </a:lnTo>
                <a:lnTo>
                  <a:pt x="0" y="1762125"/>
                </a:lnTo>
                <a:lnTo>
                  <a:pt x="6527" y="1806295"/>
                </a:lnTo>
                <a:lnTo>
                  <a:pt x="25666" y="1846808"/>
                </a:lnTo>
                <a:lnTo>
                  <a:pt x="55765" y="1879981"/>
                </a:lnTo>
                <a:lnTo>
                  <a:pt x="94081" y="1902917"/>
                </a:lnTo>
                <a:lnTo>
                  <a:pt x="137388" y="1913788"/>
                </a:lnTo>
                <a:lnTo>
                  <a:pt x="152400" y="1914512"/>
                </a:lnTo>
                <a:lnTo>
                  <a:pt x="141147" y="1913788"/>
                </a:lnTo>
                <a:lnTo>
                  <a:pt x="130098" y="1911616"/>
                </a:lnTo>
                <a:lnTo>
                  <a:pt x="88887" y="1888858"/>
                </a:lnTo>
                <a:lnTo>
                  <a:pt x="64008" y="1858759"/>
                </a:lnTo>
                <a:lnTo>
                  <a:pt x="46812" y="1820443"/>
                </a:lnTo>
                <a:lnTo>
                  <a:pt x="38646" y="1777136"/>
                </a:lnTo>
                <a:lnTo>
                  <a:pt x="38100" y="1762125"/>
                </a:lnTo>
                <a:lnTo>
                  <a:pt x="38100" y="152400"/>
                </a:lnTo>
                <a:lnTo>
                  <a:pt x="43002" y="108216"/>
                </a:lnTo>
                <a:lnTo>
                  <a:pt x="57353" y="67703"/>
                </a:lnTo>
                <a:lnTo>
                  <a:pt x="79933" y="34531"/>
                </a:lnTo>
                <a:lnTo>
                  <a:pt x="119278" y="6515"/>
                </a:lnTo>
                <a:lnTo>
                  <a:pt x="141147" y="723"/>
                </a:lnTo>
                <a:lnTo>
                  <a:pt x="152400" y="0"/>
                </a:lnTo>
                <a:close/>
              </a:path>
              <a:path w="800100" h="1914525">
                <a:moveTo>
                  <a:pt x="800100" y="525907"/>
                </a:moveTo>
                <a:lnTo>
                  <a:pt x="794258" y="481457"/>
                </a:lnTo>
                <a:lnTo>
                  <a:pt x="779843" y="439000"/>
                </a:lnTo>
                <a:lnTo>
                  <a:pt x="757415" y="400164"/>
                </a:lnTo>
                <a:lnTo>
                  <a:pt x="727862" y="366458"/>
                </a:lnTo>
                <a:lnTo>
                  <a:pt x="692289" y="339166"/>
                </a:lnTo>
                <a:lnTo>
                  <a:pt x="652068" y="319328"/>
                </a:lnTo>
                <a:lnTo>
                  <a:pt x="608761" y="307721"/>
                </a:lnTo>
                <a:lnTo>
                  <a:pt x="578993" y="304800"/>
                </a:lnTo>
                <a:lnTo>
                  <a:pt x="564019" y="304800"/>
                </a:lnTo>
                <a:lnTo>
                  <a:pt x="519569" y="310642"/>
                </a:lnTo>
                <a:lnTo>
                  <a:pt x="477113" y="325056"/>
                </a:lnTo>
                <a:lnTo>
                  <a:pt x="438277" y="347484"/>
                </a:lnTo>
                <a:lnTo>
                  <a:pt x="404571" y="377037"/>
                </a:lnTo>
                <a:lnTo>
                  <a:pt x="377278" y="412610"/>
                </a:lnTo>
                <a:lnTo>
                  <a:pt x="357441" y="452831"/>
                </a:lnTo>
                <a:lnTo>
                  <a:pt x="345833" y="496138"/>
                </a:lnTo>
                <a:lnTo>
                  <a:pt x="342900" y="525907"/>
                </a:lnTo>
                <a:lnTo>
                  <a:pt x="342900" y="540880"/>
                </a:lnTo>
                <a:lnTo>
                  <a:pt x="348754" y="585330"/>
                </a:lnTo>
                <a:lnTo>
                  <a:pt x="363169" y="627786"/>
                </a:lnTo>
                <a:lnTo>
                  <a:pt x="385597" y="666623"/>
                </a:lnTo>
                <a:lnTo>
                  <a:pt x="415150" y="700328"/>
                </a:lnTo>
                <a:lnTo>
                  <a:pt x="450723" y="727621"/>
                </a:lnTo>
                <a:lnTo>
                  <a:pt x="490943" y="747458"/>
                </a:lnTo>
                <a:lnTo>
                  <a:pt x="534250" y="759066"/>
                </a:lnTo>
                <a:lnTo>
                  <a:pt x="564019" y="762000"/>
                </a:lnTo>
                <a:lnTo>
                  <a:pt x="578993" y="762000"/>
                </a:lnTo>
                <a:lnTo>
                  <a:pt x="623443" y="756145"/>
                </a:lnTo>
                <a:lnTo>
                  <a:pt x="665899" y="741730"/>
                </a:lnTo>
                <a:lnTo>
                  <a:pt x="704735" y="719302"/>
                </a:lnTo>
                <a:lnTo>
                  <a:pt x="738441" y="689749"/>
                </a:lnTo>
                <a:lnTo>
                  <a:pt x="765733" y="654177"/>
                </a:lnTo>
                <a:lnTo>
                  <a:pt x="785571" y="613956"/>
                </a:lnTo>
                <a:lnTo>
                  <a:pt x="797179" y="570649"/>
                </a:lnTo>
                <a:lnTo>
                  <a:pt x="800100" y="540880"/>
                </a:lnTo>
                <a:lnTo>
                  <a:pt x="800100" y="533400"/>
                </a:lnTo>
                <a:lnTo>
                  <a:pt x="800100" y="525907"/>
                </a:lnTo>
                <a:close/>
              </a:path>
            </a:pathLst>
          </a:custGeom>
          <a:solidFill>
            <a:srgbClr val="E958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1724" y="3487394"/>
            <a:ext cx="4217035" cy="8997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83565">
              <a:lnSpc>
                <a:spcPct val="100000"/>
              </a:lnSpc>
              <a:spcBef>
                <a:spcPts val="114"/>
              </a:spcBef>
            </a:pP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Definisi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374050"/>
                </a:solidFill>
                <a:latin typeface="Tahoma"/>
                <a:cs typeface="Tahoma"/>
              </a:rPr>
              <a:t>Bagian</a:t>
            </a:r>
            <a:r>
              <a:rPr sz="1600" spc="2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74050"/>
                </a:solidFill>
                <a:latin typeface="Tahoma"/>
                <a:cs typeface="Tahoma"/>
              </a:rPr>
              <a:t>yang</a:t>
            </a:r>
            <a:r>
              <a:rPr sz="1600" spc="2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74050"/>
                </a:solidFill>
                <a:latin typeface="Tahoma"/>
                <a:cs typeface="Tahoma"/>
              </a:rPr>
              <a:t>digunakan</a:t>
            </a:r>
            <a:r>
              <a:rPr sz="1600" spc="3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74050"/>
                </a:solidFill>
                <a:latin typeface="Tahoma"/>
                <a:cs typeface="Tahoma"/>
              </a:rPr>
              <a:t>untuk</a:t>
            </a:r>
            <a:r>
              <a:rPr sz="1600" spc="-2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b="1" spc="-135" dirty="0">
                <a:solidFill>
                  <a:srgbClr val="E9580C"/>
                </a:solidFill>
                <a:latin typeface="Tahoma"/>
                <a:cs typeface="Tahoma"/>
              </a:rPr>
              <a:t>memilih</a:t>
            </a:r>
            <a:r>
              <a:rPr sz="1600" b="1" spc="5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E9580C"/>
                </a:solidFill>
                <a:latin typeface="Tahoma"/>
                <a:cs typeface="Tahoma"/>
              </a:rPr>
              <a:t>elemen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724" y="4423282"/>
            <a:ext cx="2635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25" dirty="0">
                <a:solidFill>
                  <a:srgbClr val="E9580C"/>
                </a:solidFill>
                <a:latin typeface="Tahoma"/>
                <a:cs typeface="Tahoma"/>
              </a:rPr>
              <a:t>HTML</a:t>
            </a:r>
            <a:r>
              <a:rPr sz="1600" b="1" spc="-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74050"/>
                </a:solidFill>
                <a:latin typeface="Tahoma"/>
                <a:cs typeface="Tahoma"/>
              </a:rPr>
              <a:t>yang</a:t>
            </a:r>
            <a:r>
              <a:rPr sz="1600" spc="-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74050"/>
                </a:solidFill>
                <a:latin typeface="Tahoma"/>
                <a:cs typeface="Tahoma"/>
              </a:rPr>
              <a:t>ingin</a:t>
            </a:r>
            <a:r>
              <a:rPr sz="1600" spc="-3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74050"/>
                </a:solidFill>
                <a:latin typeface="Tahoma"/>
                <a:cs typeface="Tahoma"/>
              </a:rPr>
              <a:t>diberi</a:t>
            </a:r>
            <a:r>
              <a:rPr sz="1600" spc="1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374050"/>
                </a:solidFill>
                <a:latin typeface="Tahoma"/>
                <a:cs typeface="Tahoma"/>
              </a:rPr>
              <a:t>gaya.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3055" y="2228088"/>
            <a:ext cx="5450205" cy="3889375"/>
            <a:chOff x="6163055" y="2228088"/>
            <a:chExt cx="5450205" cy="38893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3055" y="2228088"/>
              <a:ext cx="5449823" cy="38892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6074" y="2705099"/>
              <a:ext cx="190500" cy="1143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16725" y="2613532"/>
            <a:ext cx="984885" cy="864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4ADE80"/>
                </a:solidFill>
                <a:latin typeface="Courier New"/>
                <a:cs typeface="Courier New"/>
              </a:rPr>
              <a:t>h1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1950" y="4571999"/>
            <a:ext cx="158750" cy="1905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007224" y="4518532"/>
            <a:ext cx="5461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5" dirty="0">
                <a:solidFill>
                  <a:srgbClr val="292524"/>
                </a:solidFill>
                <a:latin typeface="Tahoma"/>
                <a:cs typeface="Tahoma"/>
              </a:rPr>
              <a:t>HTML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16725" y="5092700"/>
            <a:ext cx="16262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60A5FA"/>
                </a:solidFill>
                <a:latin typeface="Courier New"/>
                <a:cs typeface="Courier New"/>
              </a:rPr>
              <a:t>&lt;h1&gt;Judul&lt;/h1&gt;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49" y="660399"/>
            <a:ext cx="2286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Jenis-</a:t>
            </a:r>
            <a:r>
              <a:rPr spc="-235" dirty="0"/>
              <a:t>Jenis</a:t>
            </a:r>
            <a:r>
              <a:rPr spc="-114" dirty="0"/>
              <a:t> </a:t>
            </a:r>
            <a:r>
              <a:rPr spc="-80" dirty="0">
                <a:solidFill>
                  <a:srgbClr val="E9580C"/>
                </a:solidFill>
              </a:rPr>
              <a:t>Selector</a:t>
            </a:r>
            <a:r>
              <a:rPr spc="-204" dirty="0">
                <a:solidFill>
                  <a:srgbClr val="E9580C"/>
                </a:solidFill>
              </a:rPr>
              <a:t> </a:t>
            </a:r>
            <a:r>
              <a:rPr dirty="0">
                <a:solidFill>
                  <a:srgbClr val="9CA2AF"/>
                </a:solidFill>
              </a:rPr>
              <a:t>Bagian</a:t>
            </a:r>
            <a:r>
              <a:rPr spc="-25" dirty="0">
                <a:solidFill>
                  <a:srgbClr val="9CA2AF"/>
                </a:solidFill>
              </a:rPr>
              <a:t> </a:t>
            </a:r>
            <a:r>
              <a:rPr spc="-50" dirty="0">
                <a:solidFill>
                  <a:srgbClr val="9CA2AF"/>
                </a:solidFill>
              </a:rPr>
              <a:t>1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55" y="2255519"/>
            <a:ext cx="11012423" cy="38313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3624" y="2934944"/>
            <a:ext cx="3068955" cy="21075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14"/>
              </a:spcBef>
              <a:tabLst>
                <a:tab pos="583565" algn="l"/>
              </a:tabLst>
            </a:pPr>
            <a:r>
              <a:rPr sz="2775" b="1" spc="-75" baseline="1501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775" b="1" baseline="150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900" b="1" spc="-8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r>
              <a:rPr sz="1900" b="1" spc="-6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Elemen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4A5462"/>
                </a:solidFill>
                <a:latin typeface="Tahoma"/>
                <a:cs typeface="Tahoma"/>
              </a:rPr>
              <a:t>Memilih</a:t>
            </a:r>
            <a:r>
              <a:rPr sz="1400" spc="10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4A5462"/>
                </a:solidFill>
                <a:latin typeface="Tahoma"/>
                <a:cs typeface="Tahoma"/>
              </a:rPr>
              <a:t>berdasarkan</a:t>
            </a:r>
            <a:r>
              <a:rPr sz="1400" spc="9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4A5462"/>
                </a:solidFill>
                <a:latin typeface="Tahoma"/>
                <a:cs typeface="Tahoma"/>
              </a:rPr>
              <a:t>nama</a:t>
            </a:r>
            <a:r>
              <a:rPr sz="1400" spc="9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4A5462"/>
                </a:solidFill>
                <a:latin typeface="Tahoma"/>
                <a:cs typeface="Tahoma"/>
              </a:rPr>
              <a:t>tag</a:t>
            </a:r>
            <a:r>
              <a:rPr sz="1400" spc="9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A5462"/>
                </a:solidFill>
                <a:latin typeface="Tahoma"/>
                <a:cs typeface="Tahoma"/>
              </a:rPr>
              <a:t>HTML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35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p </a:t>
            </a: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color: </a:t>
            </a:r>
            <a:r>
              <a:rPr sz="1500" spc="-10" dirty="0">
                <a:solidFill>
                  <a:srgbClr val="4ADE80"/>
                </a:solidFill>
                <a:latin typeface="Courier New"/>
                <a:cs typeface="Courier New"/>
              </a:rPr>
              <a:t>black;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0024" y="2734919"/>
            <a:ext cx="2338705" cy="1970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114"/>
              </a:spcBef>
              <a:tabLst>
                <a:tab pos="410845" algn="l"/>
              </a:tabLst>
            </a:pPr>
            <a:r>
              <a:rPr sz="2775" b="1" spc="-75" baseline="1501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2775" b="1" baseline="150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900" b="1" spc="-8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r>
              <a:rPr sz="1900" b="1" spc="-6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20" dirty="0">
                <a:solidFill>
                  <a:srgbClr val="292524"/>
                </a:solidFill>
                <a:latin typeface="Tahoma"/>
                <a:cs typeface="Tahoma"/>
              </a:rPr>
              <a:t>Class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Tahoma"/>
              <a:cs typeface="Tahoma"/>
            </a:endParaRPr>
          </a:p>
          <a:p>
            <a:pPr marR="8255" algn="ctr">
              <a:lnSpc>
                <a:spcPct val="100000"/>
              </a:lnSpc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Menggunakan</a:t>
            </a:r>
            <a:r>
              <a:rPr sz="1400" spc="1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tanda</a:t>
            </a:r>
            <a:r>
              <a:rPr sz="1400" spc="16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titik</a:t>
            </a:r>
            <a:r>
              <a:rPr sz="140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(</a:t>
            </a:r>
            <a:r>
              <a:rPr sz="1350" spc="-25" dirty="0">
                <a:solidFill>
                  <a:srgbClr val="DB2525"/>
                </a:solidFill>
                <a:latin typeface="Courier New"/>
                <a:cs typeface="Courier New"/>
              </a:rPr>
              <a:t>.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35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.box</a:t>
            </a:r>
            <a:r>
              <a:rPr sz="1350" spc="-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57658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background:</a:t>
            </a:r>
            <a:r>
              <a:rPr sz="1350" spc="-9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gray;</a:t>
            </a:r>
            <a:endParaRPr sz="13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6075" y="5229224"/>
            <a:ext cx="190500" cy="1143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69125" y="5168900"/>
            <a:ext cx="18662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374050"/>
                </a:solidFill>
                <a:latin typeface="Courier New"/>
                <a:cs typeface="Courier New"/>
              </a:rPr>
              <a:t>&lt;div </a:t>
            </a:r>
            <a:r>
              <a:rPr sz="1050" spc="-10" dirty="0">
                <a:solidFill>
                  <a:srgbClr val="374050"/>
                </a:solidFill>
                <a:latin typeface="Courier New"/>
                <a:cs typeface="Courier New"/>
              </a:rPr>
              <a:t>class="box"&gt;&lt;/div&gt;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49" y="660399"/>
            <a:ext cx="2286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Jenis-</a:t>
            </a:r>
            <a:r>
              <a:rPr spc="-235" dirty="0"/>
              <a:t>Jenis</a:t>
            </a:r>
            <a:r>
              <a:rPr spc="-114" dirty="0"/>
              <a:t> </a:t>
            </a:r>
            <a:r>
              <a:rPr spc="-80" dirty="0">
                <a:solidFill>
                  <a:srgbClr val="E9580C"/>
                </a:solidFill>
              </a:rPr>
              <a:t>Selector</a:t>
            </a:r>
            <a:r>
              <a:rPr spc="-204" dirty="0">
                <a:solidFill>
                  <a:srgbClr val="E9580C"/>
                </a:solidFill>
              </a:rPr>
              <a:t> </a:t>
            </a:r>
            <a:r>
              <a:rPr dirty="0">
                <a:solidFill>
                  <a:srgbClr val="9CA2AF"/>
                </a:solidFill>
              </a:rPr>
              <a:t>Bagian</a:t>
            </a:r>
            <a:r>
              <a:rPr spc="-25" dirty="0">
                <a:solidFill>
                  <a:srgbClr val="9CA2AF"/>
                </a:solidFill>
              </a:rPr>
              <a:t> </a:t>
            </a:r>
            <a:r>
              <a:rPr spc="-50" dirty="0">
                <a:solidFill>
                  <a:srgbClr val="9CA2AF"/>
                </a:solidFill>
              </a:rPr>
              <a:t>2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55" y="2179319"/>
            <a:ext cx="11012423" cy="39837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3624" y="2734919"/>
            <a:ext cx="2520315" cy="1970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14"/>
              </a:spcBef>
              <a:tabLst>
                <a:tab pos="583565" algn="l"/>
              </a:tabLst>
            </a:pPr>
            <a:r>
              <a:rPr sz="2775" b="1" spc="-75" baseline="1501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2775" b="1" baseline="150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900" b="1" spc="-8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r>
              <a:rPr sz="1900" b="1" spc="-6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305" dirty="0">
                <a:solidFill>
                  <a:srgbClr val="292524"/>
                </a:solidFill>
                <a:latin typeface="Tahoma"/>
                <a:cs typeface="Tahoma"/>
              </a:rPr>
              <a:t>ID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Menggunakan</a:t>
            </a:r>
            <a:r>
              <a:rPr sz="1400" spc="1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tanda</a:t>
            </a:r>
            <a:r>
              <a:rPr sz="1400" spc="1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4A5462"/>
                </a:solidFill>
                <a:latin typeface="Tahoma"/>
                <a:cs typeface="Tahoma"/>
              </a:rPr>
              <a:t>pagar</a:t>
            </a:r>
            <a:r>
              <a:rPr sz="1400" spc="8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(</a:t>
            </a:r>
            <a:r>
              <a:rPr sz="1350" spc="-25" dirty="0">
                <a:solidFill>
                  <a:srgbClr val="F59D0A"/>
                </a:solidFill>
                <a:latin typeface="Courier New"/>
                <a:cs typeface="Courier New"/>
              </a:rPr>
              <a:t>#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35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#header</a:t>
            </a:r>
            <a:r>
              <a:rPr sz="1350" spc="-6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57658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background:</a:t>
            </a:r>
            <a:r>
              <a:rPr sz="1350" spc="-9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blue;</a:t>
            </a:r>
            <a:endParaRPr sz="13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09674" y="5229224"/>
            <a:ext cx="5676900" cy="228600"/>
            <a:chOff x="1209674" y="5229224"/>
            <a:chExt cx="5676900" cy="2286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9674" y="5229224"/>
              <a:ext cx="190500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6074" y="5267324"/>
              <a:ext cx="190500" cy="1905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82724" y="5168900"/>
            <a:ext cx="18662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374050"/>
                </a:solidFill>
                <a:latin typeface="Courier New"/>
                <a:cs typeface="Courier New"/>
              </a:rPr>
              <a:t>&lt;div </a:t>
            </a:r>
            <a:r>
              <a:rPr sz="1050" spc="-10" dirty="0">
                <a:solidFill>
                  <a:srgbClr val="374050"/>
                </a:solidFill>
                <a:latin typeface="Courier New"/>
                <a:cs typeface="Courier New"/>
              </a:rPr>
              <a:t>id="header"&gt;&lt;/div&gt;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0024" y="2658719"/>
            <a:ext cx="2647315" cy="867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38735" algn="r">
              <a:lnSpc>
                <a:spcPct val="100000"/>
              </a:lnSpc>
              <a:spcBef>
                <a:spcPts val="114"/>
              </a:spcBef>
              <a:tabLst>
                <a:tab pos="410845" algn="l"/>
              </a:tabLst>
            </a:pPr>
            <a:r>
              <a:rPr sz="2775" b="1" spc="-75" baseline="1501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2775" b="1" baseline="150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900" b="1" spc="-105" dirty="0">
                <a:solidFill>
                  <a:srgbClr val="292524"/>
                </a:solidFill>
                <a:latin typeface="Tahoma"/>
                <a:cs typeface="Tahoma"/>
              </a:rPr>
              <a:t>Universal</a:t>
            </a:r>
            <a:r>
              <a:rPr sz="1900" b="1" spc="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Menggunakan</a:t>
            </a:r>
            <a:r>
              <a:rPr sz="1400" spc="21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tanda</a:t>
            </a:r>
            <a:r>
              <a:rPr sz="1400" spc="2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bintang</a:t>
            </a:r>
            <a:r>
              <a:rPr sz="1400" spc="2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(</a:t>
            </a:r>
            <a:r>
              <a:rPr sz="1350" spc="-25" dirty="0">
                <a:solidFill>
                  <a:srgbClr val="0FB981"/>
                </a:solidFill>
                <a:latin typeface="Courier New"/>
                <a:cs typeface="Courier New"/>
              </a:rPr>
              <a:t>*</a:t>
            </a:r>
            <a:r>
              <a:rPr sz="1400" spc="-25" dirty="0">
                <a:solidFill>
                  <a:srgbClr val="4A5462"/>
                </a:solidFill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78625" y="3921125"/>
            <a:ext cx="368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* </a:t>
            </a: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5899" y="4187825"/>
            <a:ext cx="1169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ADE80"/>
                </a:solidFill>
                <a:latin typeface="Courier New"/>
                <a:cs typeface="Courier New"/>
              </a:rPr>
              <a:t>margin: </a:t>
            </a:r>
            <a:r>
              <a:rPr sz="1500" spc="-25" dirty="0">
                <a:solidFill>
                  <a:srgbClr val="4ADE80"/>
                </a:solidFill>
                <a:latin typeface="Courier New"/>
                <a:cs typeface="Courier New"/>
              </a:rPr>
              <a:t>0;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78625" y="4454525"/>
            <a:ext cx="140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9124" y="5255615"/>
            <a:ext cx="22085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374050"/>
                </a:solidFill>
                <a:latin typeface="Tahoma"/>
                <a:cs typeface="Tahoma"/>
              </a:rPr>
              <a:t>Semua</a:t>
            </a:r>
            <a:r>
              <a:rPr sz="1100" spc="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4050"/>
                </a:solidFill>
                <a:latin typeface="Tahoma"/>
                <a:cs typeface="Tahoma"/>
              </a:rPr>
              <a:t>elemen</a:t>
            </a:r>
            <a:r>
              <a:rPr sz="1100" spc="4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4050"/>
                </a:solidFill>
                <a:latin typeface="Tahoma"/>
                <a:cs typeface="Tahoma"/>
              </a:rPr>
              <a:t>terkena</a:t>
            </a:r>
            <a:r>
              <a:rPr sz="1100" spc="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4050"/>
                </a:solidFill>
                <a:latin typeface="Tahoma"/>
                <a:cs typeface="Tahoma"/>
              </a:rPr>
              <a:t>aturan</a:t>
            </a:r>
            <a:r>
              <a:rPr sz="1100" spc="4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74050"/>
                </a:solidFill>
                <a:latin typeface="Tahoma"/>
                <a:cs typeface="Tahoma"/>
              </a:rPr>
              <a:t>CSS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9" y="660399"/>
            <a:ext cx="2413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35" dirty="0"/>
              <a:t>2.</a:t>
            </a:r>
            <a:r>
              <a:rPr spc="-35" dirty="0"/>
              <a:t> </a:t>
            </a:r>
            <a:r>
              <a:rPr spc="-75" dirty="0">
                <a:solidFill>
                  <a:srgbClr val="E9580C"/>
                </a:solidFill>
              </a:rPr>
              <a:t>Declaration</a:t>
            </a:r>
            <a:r>
              <a:rPr spc="-155" dirty="0">
                <a:solidFill>
                  <a:srgbClr val="E9580C"/>
                </a:solidFill>
              </a:rPr>
              <a:t> </a:t>
            </a:r>
            <a:r>
              <a:rPr spc="-20" dirty="0">
                <a:solidFill>
                  <a:srgbClr val="E9580C"/>
                </a:solidFill>
              </a:rPr>
              <a:t>Block</a:t>
            </a:r>
            <a:r>
              <a:rPr spc="-215" dirty="0">
                <a:solidFill>
                  <a:srgbClr val="E9580C"/>
                </a:solidFill>
              </a:rPr>
              <a:t> </a:t>
            </a:r>
            <a:r>
              <a:rPr dirty="0"/>
              <a:t>&amp;</a:t>
            </a:r>
            <a:r>
              <a:rPr spc="-250" dirty="0"/>
              <a:t> </a:t>
            </a:r>
            <a:r>
              <a:rPr spc="-40" dirty="0">
                <a:solidFill>
                  <a:srgbClr val="E9580C"/>
                </a:solidFill>
              </a:rPr>
              <a:t>Property</a:t>
            </a:r>
          </a:p>
        </p:txBody>
      </p:sp>
      <p:sp>
        <p:nvSpPr>
          <p:cNvPr id="7" name="object 7"/>
          <p:cNvSpPr/>
          <p:nvPr/>
        </p:nvSpPr>
        <p:spPr>
          <a:xfrm>
            <a:off x="790574" y="2657474"/>
            <a:ext cx="5124450" cy="2838450"/>
          </a:xfrm>
          <a:custGeom>
            <a:avLst/>
            <a:gdLst/>
            <a:ahLst/>
            <a:cxnLst/>
            <a:rect l="l" t="t" r="r" b="b"/>
            <a:pathLst>
              <a:path w="5124450" h="2838450">
                <a:moveTo>
                  <a:pt x="4972049" y="2838449"/>
                </a:moveTo>
                <a:lnTo>
                  <a:pt x="133349" y="2838449"/>
                </a:lnTo>
                <a:lnTo>
                  <a:pt x="126798" y="2838266"/>
                </a:lnTo>
                <a:lnTo>
                  <a:pt x="88432" y="2829544"/>
                </a:lnTo>
                <a:lnTo>
                  <a:pt x="53906" y="2808453"/>
                </a:lnTo>
                <a:lnTo>
                  <a:pt x="26246" y="2776841"/>
                </a:lnTo>
                <a:lnTo>
                  <a:pt x="7791" y="2737383"/>
                </a:lnTo>
                <a:lnTo>
                  <a:pt x="160" y="2693536"/>
                </a:lnTo>
                <a:lnTo>
                  <a:pt x="0" y="2686049"/>
                </a:lnTo>
                <a:lnTo>
                  <a:pt x="0" y="152399"/>
                </a:lnTo>
                <a:lnTo>
                  <a:pt x="5740" y="108159"/>
                </a:lnTo>
                <a:lnTo>
                  <a:pt x="22473" y="67730"/>
                </a:lnTo>
                <a:lnTo>
                  <a:pt x="48752" y="34591"/>
                </a:lnTo>
                <a:lnTo>
                  <a:pt x="82319" y="11600"/>
                </a:lnTo>
                <a:lnTo>
                  <a:pt x="120279" y="732"/>
                </a:lnTo>
                <a:lnTo>
                  <a:pt x="133349" y="0"/>
                </a:lnTo>
                <a:lnTo>
                  <a:pt x="4972049" y="0"/>
                </a:lnTo>
                <a:lnTo>
                  <a:pt x="5016288" y="6560"/>
                </a:lnTo>
                <a:lnTo>
                  <a:pt x="5056717" y="25683"/>
                </a:lnTo>
                <a:lnTo>
                  <a:pt x="5089856" y="55717"/>
                </a:lnTo>
                <a:lnTo>
                  <a:pt x="5112847" y="94078"/>
                </a:lnTo>
                <a:lnTo>
                  <a:pt x="5123717" y="137461"/>
                </a:lnTo>
                <a:lnTo>
                  <a:pt x="5124449" y="152399"/>
                </a:lnTo>
                <a:lnTo>
                  <a:pt x="5124449" y="2686049"/>
                </a:lnTo>
                <a:lnTo>
                  <a:pt x="5117888" y="2730289"/>
                </a:lnTo>
                <a:lnTo>
                  <a:pt x="5098764" y="2770717"/>
                </a:lnTo>
                <a:lnTo>
                  <a:pt x="5068731" y="2803857"/>
                </a:lnTo>
                <a:lnTo>
                  <a:pt x="5030369" y="2826848"/>
                </a:lnTo>
                <a:lnTo>
                  <a:pt x="4986987" y="2837717"/>
                </a:lnTo>
                <a:lnTo>
                  <a:pt x="4972049" y="28384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512" y="2657487"/>
            <a:ext cx="800100" cy="2838450"/>
          </a:xfrm>
          <a:custGeom>
            <a:avLst/>
            <a:gdLst/>
            <a:ahLst/>
            <a:cxnLst/>
            <a:rect l="l" t="t" r="r" b="b"/>
            <a:pathLst>
              <a:path w="800100" h="2838450">
                <a:moveTo>
                  <a:pt x="152400" y="0"/>
                </a:moveTo>
                <a:lnTo>
                  <a:pt x="108229" y="6515"/>
                </a:lnTo>
                <a:lnTo>
                  <a:pt x="67716" y="25654"/>
                </a:lnTo>
                <a:lnTo>
                  <a:pt x="34544" y="55753"/>
                </a:lnTo>
                <a:lnTo>
                  <a:pt x="11607" y="94068"/>
                </a:lnTo>
                <a:lnTo>
                  <a:pt x="736" y="137375"/>
                </a:lnTo>
                <a:lnTo>
                  <a:pt x="0" y="152400"/>
                </a:lnTo>
                <a:lnTo>
                  <a:pt x="0" y="2686050"/>
                </a:lnTo>
                <a:lnTo>
                  <a:pt x="6527" y="2730220"/>
                </a:lnTo>
                <a:lnTo>
                  <a:pt x="25666" y="2770733"/>
                </a:lnTo>
                <a:lnTo>
                  <a:pt x="55765" y="2803906"/>
                </a:lnTo>
                <a:lnTo>
                  <a:pt x="94081" y="2826842"/>
                </a:lnTo>
                <a:lnTo>
                  <a:pt x="137388" y="2837713"/>
                </a:lnTo>
                <a:lnTo>
                  <a:pt x="152400" y="2838437"/>
                </a:lnTo>
                <a:lnTo>
                  <a:pt x="141147" y="2837713"/>
                </a:lnTo>
                <a:lnTo>
                  <a:pt x="130098" y="2835541"/>
                </a:lnTo>
                <a:lnTo>
                  <a:pt x="88887" y="2812783"/>
                </a:lnTo>
                <a:lnTo>
                  <a:pt x="64008" y="2782671"/>
                </a:lnTo>
                <a:lnTo>
                  <a:pt x="46812" y="2744368"/>
                </a:lnTo>
                <a:lnTo>
                  <a:pt x="38646" y="2701061"/>
                </a:lnTo>
                <a:lnTo>
                  <a:pt x="38100" y="2686050"/>
                </a:lnTo>
                <a:lnTo>
                  <a:pt x="38100" y="152400"/>
                </a:lnTo>
                <a:lnTo>
                  <a:pt x="43002" y="108216"/>
                </a:lnTo>
                <a:lnTo>
                  <a:pt x="57353" y="67703"/>
                </a:lnTo>
                <a:lnTo>
                  <a:pt x="79933" y="34531"/>
                </a:lnTo>
                <a:lnTo>
                  <a:pt x="119278" y="6515"/>
                </a:lnTo>
                <a:lnTo>
                  <a:pt x="141147" y="723"/>
                </a:lnTo>
                <a:lnTo>
                  <a:pt x="152400" y="0"/>
                </a:lnTo>
                <a:close/>
              </a:path>
              <a:path w="800100" h="2838450">
                <a:moveTo>
                  <a:pt x="800100" y="525907"/>
                </a:moveTo>
                <a:lnTo>
                  <a:pt x="794258" y="481457"/>
                </a:lnTo>
                <a:lnTo>
                  <a:pt x="779843" y="439000"/>
                </a:lnTo>
                <a:lnTo>
                  <a:pt x="757415" y="400164"/>
                </a:lnTo>
                <a:lnTo>
                  <a:pt x="727862" y="366458"/>
                </a:lnTo>
                <a:lnTo>
                  <a:pt x="692289" y="339166"/>
                </a:lnTo>
                <a:lnTo>
                  <a:pt x="652068" y="319328"/>
                </a:lnTo>
                <a:lnTo>
                  <a:pt x="608761" y="307721"/>
                </a:lnTo>
                <a:lnTo>
                  <a:pt x="578993" y="304800"/>
                </a:lnTo>
                <a:lnTo>
                  <a:pt x="564019" y="304800"/>
                </a:lnTo>
                <a:lnTo>
                  <a:pt x="519569" y="310642"/>
                </a:lnTo>
                <a:lnTo>
                  <a:pt x="477113" y="325056"/>
                </a:lnTo>
                <a:lnTo>
                  <a:pt x="438277" y="347484"/>
                </a:lnTo>
                <a:lnTo>
                  <a:pt x="404571" y="377037"/>
                </a:lnTo>
                <a:lnTo>
                  <a:pt x="377278" y="412610"/>
                </a:lnTo>
                <a:lnTo>
                  <a:pt x="357441" y="452831"/>
                </a:lnTo>
                <a:lnTo>
                  <a:pt x="345833" y="496138"/>
                </a:lnTo>
                <a:lnTo>
                  <a:pt x="342900" y="525907"/>
                </a:lnTo>
                <a:lnTo>
                  <a:pt x="342900" y="540880"/>
                </a:lnTo>
                <a:lnTo>
                  <a:pt x="348754" y="585330"/>
                </a:lnTo>
                <a:lnTo>
                  <a:pt x="363169" y="627786"/>
                </a:lnTo>
                <a:lnTo>
                  <a:pt x="385597" y="666623"/>
                </a:lnTo>
                <a:lnTo>
                  <a:pt x="415150" y="700328"/>
                </a:lnTo>
                <a:lnTo>
                  <a:pt x="450723" y="727621"/>
                </a:lnTo>
                <a:lnTo>
                  <a:pt x="490943" y="747458"/>
                </a:lnTo>
                <a:lnTo>
                  <a:pt x="534250" y="759066"/>
                </a:lnTo>
                <a:lnTo>
                  <a:pt x="564019" y="762000"/>
                </a:lnTo>
                <a:lnTo>
                  <a:pt x="578993" y="762000"/>
                </a:lnTo>
                <a:lnTo>
                  <a:pt x="623443" y="756145"/>
                </a:lnTo>
                <a:lnTo>
                  <a:pt x="665899" y="741730"/>
                </a:lnTo>
                <a:lnTo>
                  <a:pt x="704735" y="719302"/>
                </a:lnTo>
                <a:lnTo>
                  <a:pt x="738441" y="689749"/>
                </a:lnTo>
                <a:lnTo>
                  <a:pt x="765733" y="654177"/>
                </a:lnTo>
                <a:lnTo>
                  <a:pt x="785571" y="613956"/>
                </a:lnTo>
                <a:lnTo>
                  <a:pt x="797179" y="570649"/>
                </a:lnTo>
                <a:lnTo>
                  <a:pt x="800100" y="540880"/>
                </a:lnTo>
                <a:lnTo>
                  <a:pt x="800100" y="533400"/>
                </a:lnTo>
                <a:lnTo>
                  <a:pt x="800100" y="525907"/>
                </a:lnTo>
                <a:close/>
              </a:path>
            </a:pathLst>
          </a:custGeom>
          <a:solidFill>
            <a:srgbClr val="E9580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5074" y="3084169"/>
            <a:ext cx="190500" cy="1905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73224" y="3020669"/>
            <a:ext cx="198183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85" dirty="0">
                <a:solidFill>
                  <a:srgbClr val="292524"/>
                </a:solidFill>
                <a:latin typeface="Tahoma"/>
                <a:cs typeface="Tahoma"/>
              </a:rPr>
              <a:t>Declaration</a:t>
            </a:r>
            <a:r>
              <a:rPr sz="1900" b="1" spc="-4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70" dirty="0">
                <a:solidFill>
                  <a:srgbClr val="292524"/>
                </a:solidFill>
                <a:latin typeface="Tahoma"/>
                <a:cs typeface="Tahoma"/>
              </a:rPr>
              <a:t>Block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1724" y="3595659"/>
            <a:ext cx="4389755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0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Bagian</a:t>
            </a:r>
            <a:r>
              <a:rPr sz="1400" spc="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di</a:t>
            </a:r>
            <a:r>
              <a:rPr sz="1400" spc="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374050"/>
                </a:solidFill>
                <a:latin typeface="Tahoma"/>
                <a:cs typeface="Tahoma"/>
              </a:rPr>
              <a:t>dalam</a:t>
            </a:r>
            <a:r>
              <a:rPr sz="1400" spc="-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kurung</a:t>
            </a:r>
            <a:r>
              <a:rPr sz="1400" spc="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kurawal</a:t>
            </a:r>
            <a:r>
              <a:rPr sz="1400" spc="114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yang</a:t>
            </a:r>
            <a:r>
              <a:rPr sz="1400" spc="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berisi</a:t>
            </a:r>
            <a:r>
              <a:rPr sz="1400" spc="8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satu</a:t>
            </a:r>
            <a:r>
              <a:rPr sz="1400" spc="5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74050"/>
                </a:solidFill>
                <a:latin typeface="Tahoma"/>
                <a:cs typeface="Tahoma"/>
              </a:rPr>
              <a:t>atau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lebih</a:t>
            </a:r>
            <a:r>
              <a:rPr sz="1400" spc="6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deklarasi</a:t>
            </a:r>
            <a:r>
              <a:rPr sz="1400" spc="9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74050"/>
                </a:solidFill>
                <a:latin typeface="Tahoma"/>
                <a:cs typeface="Tahoma"/>
              </a:rPr>
              <a:t>CSS.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14424" y="4429124"/>
            <a:ext cx="4495800" cy="762000"/>
          </a:xfrm>
          <a:custGeom>
            <a:avLst/>
            <a:gdLst/>
            <a:ahLst/>
            <a:cxnLst/>
            <a:rect l="l" t="t" r="r" b="b"/>
            <a:pathLst>
              <a:path w="4495800" h="762000">
                <a:moveTo>
                  <a:pt x="4424602" y="761999"/>
                </a:moveTo>
                <a:lnTo>
                  <a:pt x="71196" y="761999"/>
                </a:lnTo>
                <a:lnTo>
                  <a:pt x="66241" y="761511"/>
                </a:lnTo>
                <a:lnTo>
                  <a:pt x="29705" y="746377"/>
                </a:lnTo>
                <a:lnTo>
                  <a:pt x="3885" y="710337"/>
                </a:lnTo>
                <a:lnTo>
                  <a:pt x="0" y="690803"/>
                </a:lnTo>
                <a:lnTo>
                  <a:pt x="0" y="6857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424602" y="0"/>
                </a:lnTo>
                <a:lnTo>
                  <a:pt x="4466093" y="15621"/>
                </a:lnTo>
                <a:lnTo>
                  <a:pt x="4491913" y="51661"/>
                </a:lnTo>
                <a:lnTo>
                  <a:pt x="4495799" y="71196"/>
                </a:lnTo>
                <a:lnTo>
                  <a:pt x="4495799" y="690803"/>
                </a:lnTo>
                <a:lnTo>
                  <a:pt x="4480176" y="732293"/>
                </a:lnTo>
                <a:lnTo>
                  <a:pt x="4444137" y="758113"/>
                </a:lnTo>
                <a:lnTo>
                  <a:pt x="4429557" y="761511"/>
                </a:lnTo>
                <a:lnTo>
                  <a:pt x="4424602" y="761999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30324" y="4616450"/>
            <a:ext cx="437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ADE80"/>
                </a:solidFill>
                <a:latin typeface="Courier New"/>
                <a:cs typeface="Courier New"/>
              </a:rPr>
              <a:t>{ </a:t>
            </a:r>
            <a:r>
              <a:rPr sz="18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15074" y="2200274"/>
            <a:ext cx="5124450" cy="3752850"/>
          </a:xfrm>
          <a:custGeom>
            <a:avLst/>
            <a:gdLst/>
            <a:ahLst/>
            <a:cxnLst/>
            <a:rect l="l" t="t" r="r" b="b"/>
            <a:pathLst>
              <a:path w="5124450" h="3752850">
                <a:moveTo>
                  <a:pt x="4972049" y="3752849"/>
                </a:moveTo>
                <a:lnTo>
                  <a:pt x="133349" y="3752849"/>
                </a:lnTo>
                <a:lnTo>
                  <a:pt x="126798" y="3752666"/>
                </a:lnTo>
                <a:lnTo>
                  <a:pt x="88431" y="3743944"/>
                </a:lnTo>
                <a:lnTo>
                  <a:pt x="53905" y="3722854"/>
                </a:lnTo>
                <a:lnTo>
                  <a:pt x="26245" y="3691241"/>
                </a:lnTo>
                <a:lnTo>
                  <a:pt x="7790" y="3651782"/>
                </a:lnTo>
                <a:lnTo>
                  <a:pt x="160" y="3607936"/>
                </a:lnTo>
                <a:lnTo>
                  <a:pt x="0" y="3600449"/>
                </a:lnTo>
                <a:lnTo>
                  <a:pt x="0" y="152399"/>
                </a:lnTo>
                <a:lnTo>
                  <a:pt x="5739" y="108159"/>
                </a:lnTo>
                <a:lnTo>
                  <a:pt x="22473" y="67730"/>
                </a:lnTo>
                <a:lnTo>
                  <a:pt x="48751" y="34591"/>
                </a:lnTo>
                <a:lnTo>
                  <a:pt x="82318" y="11600"/>
                </a:lnTo>
                <a:lnTo>
                  <a:pt x="120278" y="732"/>
                </a:lnTo>
                <a:lnTo>
                  <a:pt x="133349" y="0"/>
                </a:lnTo>
                <a:lnTo>
                  <a:pt x="4972049" y="0"/>
                </a:lnTo>
                <a:lnTo>
                  <a:pt x="5016288" y="6560"/>
                </a:lnTo>
                <a:lnTo>
                  <a:pt x="5056716" y="25683"/>
                </a:lnTo>
                <a:lnTo>
                  <a:pt x="5089857" y="55717"/>
                </a:lnTo>
                <a:lnTo>
                  <a:pt x="5112847" y="94078"/>
                </a:lnTo>
                <a:lnTo>
                  <a:pt x="5123717" y="137461"/>
                </a:lnTo>
                <a:lnTo>
                  <a:pt x="5124449" y="152399"/>
                </a:lnTo>
                <a:lnTo>
                  <a:pt x="5124449" y="3600449"/>
                </a:lnTo>
                <a:lnTo>
                  <a:pt x="5117887" y="3644688"/>
                </a:lnTo>
                <a:lnTo>
                  <a:pt x="5098763" y="3685118"/>
                </a:lnTo>
                <a:lnTo>
                  <a:pt x="5068730" y="3718257"/>
                </a:lnTo>
                <a:lnTo>
                  <a:pt x="5030369" y="3741248"/>
                </a:lnTo>
                <a:lnTo>
                  <a:pt x="4986986" y="3752117"/>
                </a:lnTo>
                <a:lnTo>
                  <a:pt x="4972049" y="3752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96012" y="2200287"/>
            <a:ext cx="800100" cy="3752850"/>
          </a:xfrm>
          <a:custGeom>
            <a:avLst/>
            <a:gdLst/>
            <a:ahLst/>
            <a:cxnLst/>
            <a:rect l="l" t="t" r="r" b="b"/>
            <a:pathLst>
              <a:path w="800100" h="3752850">
                <a:moveTo>
                  <a:pt x="152400" y="0"/>
                </a:moveTo>
                <a:lnTo>
                  <a:pt x="108229" y="6515"/>
                </a:lnTo>
                <a:lnTo>
                  <a:pt x="67716" y="25654"/>
                </a:lnTo>
                <a:lnTo>
                  <a:pt x="34544" y="55753"/>
                </a:lnTo>
                <a:lnTo>
                  <a:pt x="11607" y="94068"/>
                </a:lnTo>
                <a:lnTo>
                  <a:pt x="736" y="137375"/>
                </a:lnTo>
                <a:lnTo>
                  <a:pt x="0" y="152400"/>
                </a:lnTo>
                <a:lnTo>
                  <a:pt x="0" y="3600450"/>
                </a:lnTo>
                <a:lnTo>
                  <a:pt x="6527" y="3644620"/>
                </a:lnTo>
                <a:lnTo>
                  <a:pt x="25666" y="3685133"/>
                </a:lnTo>
                <a:lnTo>
                  <a:pt x="55765" y="3718306"/>
                </a:lnTo>
                <a:lnTo>
                  <a:pt x="94081" y="3741242"/>
                </a:lnTo>
                <a:lnTo>
                  <a:pt x="137388" y="3752113"/>
                </a:lnTo>
                <a:lnTo>
                  <a:pt x="152400" y="3752837"/>
                </a:lnTo>
                <a:lnTo>
                  <a:pt x="141147" y="3752113"/>
                </a:lnTo>
                <a:lnTo>
                  <a:pt x="130098" y="3749941"/>
                </a:lnTo>
                <a:lnTo>
                  <a:pt x="88887" y="3727183"/>
                </a:lnTo>
                <a:lnTo>
                  <a:pt x="64008" y="3697071"/>
                </a:lnTo>
                <a:lnTo>
                  <a:pt x="46799" y="3658768"/>
                </a:lnTo>
                <a:lnTo>
                  <a:pt x="38646" y="3615461"/>
                </a:lnTo>
                <a:lnTo>
                  <a:pt x="38100" y="3600450"/>
                </a:lnTo>
                <a:lnTo>
                  <a:pt x="38100" y="152400"/>
                </a:lnTo>
                <a:lnTo>
                  <a:pt x="43002" y="108216"/>
                </a:lnTo>
                <a:lnTo>
                  <a:pt x="57353" y="67703"/>
                </a:lnTo>
                <a:lnTo>
                  <a:pt x="79933" y="34531"/>
                </a:lnTo>
                <a:lnTo>
                  <a:pt x="119278" y="6515"/>
                </a:lnTo>
                <a:lnTo>
                  <a:pt x="141147" y="723"/>
                </a:lnTo>
                <a:lnTo>
                  <a:pt x="152400" y="0"/>
                </a:lnTo>
                <a:close/>
              </a:path>
              <a:path w="800100" h="3752850">
                <a:moveTo>
                  <a:pt x="800100" y="525907"/>
                </a:moveTo>
                <a:lnTo>
                  <a:pt x="794258" y="481457"/>
                </a:lnTo>
                <a:lnTo>
                  <a:pt x="779843" y="439000"/>
                </a:lnTo>
                <a:lnTo>
                  <a:pt x="757415" y="400164"/>
                </a:lnTo>
                <a:lnTo>
                  <a:pt x="727862" y="366458"/>
                </a:lnTo>
                <a:lnTo>
                  <a:pt x="692289" y="339166"/>
                </a:lnTo>
                <a:lnTo>
                  <a:pt x="652068" y="319328"/>
                </a:lnTo>
                <a:lnTo>
                  <a:pt x="608761" y="307721"/>
                </a:lnTo>
                <a:lnTo>
                  <a:pt x="578993" y="304800"/>
                </a:lnTo>
                <a:lnTo>
                  <a:pt x="564019" y="304800"/>
                </a:lnTo>
                <a:lnTo>
                  <a:pt x="519569" y="310642"/>
                </a:lnTo>
                <a:lnTo>
                  <a:pt x="477100" y="325056"/>
                </a:lnTo>
                <a:lnTo>
                  <a:pt x="438277" y="347484"/>
                </a:lnTo>
                <a:lnTo>
                  <a:pt x="404571" y="377037"/>
                </a:lnTo>
                <a:lnTo>
                  <a:pt x="377266" y="412610"/>
                </a:lnTo>
                <a:lnTo>
                  <a:pt x="357441" y="452831"/>
                </a:lnTo>
                <a:lnTo>
                  <a:pt x="345833" y="496138"/>
                </a:lnTo>
                <a:lnTo>
                  <a:pt x="342900" y="525907"/>
                </a:lnTo>
                <a:lnTo>
                  <a:pt x="342900" y="540880"/>
                </a:lnTo>
                <a:lnTo>
                  <a:pt x="348754" y="585330"/>
                </a:lnTo>
                <a:lnTo>
                  <a:pt x="363169" y="627786"/>
                </a:lnTo>
                <a:lnTo>
                  <a:pt x="385584" y="666623"/>
                </a:lnTo>
                <a:lnTo>
                  <a:pt x="415150" y="700328"/>
                </a:lnTo>
                <a:lnTo>
                  <a:pt x="450723" y="727621"/>
                </a:lnTo>
                <a:lnTo>
                  <a:pt x="490943" y="747458"/>
                </a:lnTo>
                <a:lnTo>
                  <a:pt x="534250" y="759066"/>
                </a:lnTo>
                <a:lnTo>
                  <a:pt x="564019" y="762000"/>
                </a:lnTo>
                <a:lnTo>
                  <a:pt x="578993" y="762000"/>
                </a:lnTo>
                <a:lnTo>
                  <a:pt x="623443" y="756145"/>
                </a:lnTo>
                <a:lnTo>
                  <a:pt x="665899" y="741730"/>
                </a:lnTo>
                <a:lnTo>
                  <a:pt x="704735" y="719302"/>
                </a:lnTo>
                <a:lnTo>
                  <a:pt x="738441" y="689749"/>
                </a:lnTo>
                <a:lnTo>
                  <a:pt x="765733" y="654177"/>
                </a:lnTo>
                <a:lnTo>
                  <a:pt x="785571" y="613956"/>
                </a:lnTo>
                <a:lnTo>
                  <a:pt x="797179" y="570649"/>
                </a:lnTo>
                <a:lnTo>
                  <a:pt x="800100" y="540880"/>
                </a:lnTo>
                <a:lnTo>
                  <a:pt x="800100" y="533400"/>
                </a:lnTo>
                <a:lnTo>
                  <a:pt x="800100" y="525907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1799" y="2666999"/>
            <a:ext cx="180975" cy="13335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197724" y="2563469"/>
            <a:ext cx="1001394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75" dirty="0">
                <a:solidFill>
                  <a:srgbClr val="292524"/>
                </a:solidFill>
                <a:latin typeface="Tahoma"/>
                <a:cs typeface="Tahoma"/>
              </a:rPr>
              <a:t>Property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6224" y="3195777"/>
            <a:ext cx="31502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Atribut</a:t>
            </a:r>
            <a:r>
              <a:rPr sz="1400" spc="2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yang</a:t>
            </a:r>
            <a:r>
              <a:rPr sz="1400" spc="5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ingin</a:t>
            </a:r>
            <a:r>
              <a:rPr sz="1400" spc="6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diubah</a:t>
            </a:r>
            <a:r>
              <a:rPr sz="1400" spc="6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tampilannya.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38924" y="3705224"/>
            <a:ext cx="2190750" cy="571500"/>
          </a:xfrm>
          <a:custGeom>
            <a:avLst/>
            <a:gdLst/>
            <a:ahLst/>
            <a:cxnLst/>
            <a:rect l="l" t="t" r="r" b="b"/>
            <a:pathLst>
              <a:path w="2190750" h="571500">
                <a:moveTo>
                  <a:pt x="211955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19553" y="0"/>
                </a:lnTo>
                <a:lnTo>
                  <a:pt x="2161043" y="15621"/>
                </a:lnTo>
                <a:lnTo>
                  <a:pt x="2186864" y="51661"/>
                </a:lnTo>
                <a:lnTo>
                  <a:pt x="2190749" y="71196"/>
                </a:lnTo>
                <a:lnTo>
                  <a:pt x="2190749" y="500303"/>
                </a:lnTo>
                <a:lnTo>
                  <a:pt x="2175128" y="541794"/>
                </a:lnTo>
                <a:lnTo>
                  <a:pt x="2139087" y="567613"/>
                </a:lnTo>
                <a:lnTo>
                  <a:pt x="2124508" y="571011"/>
                </a:lnTo>
                <a:lnTo>
                  <a:pt x="2119553" y="57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64276" y="3844925"/>
            <a:ext cx="5403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9580C"/>
                </a:solidFill>
                <a:latin typeface="Courier New"/>
                <a:cs typeface="Courier New"/>
              </a:rPr>
              <a:t>color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43973" y="3705224"/>
            <a:ext cx="2190750" cy="571500"/>
          </a:xfrm>
          <a:custGeom>
            <a:avLst/>
            <a:gdLst/>
            <a:ahLst/>
            <a:cxnLst/>
            <a:rect l="l" t="t" r="r" b="b"/>
            <a:pathLst>
              <a:path w="2190750" h="571500">
                <a:moveTo>
                  <a:pt x="211955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119553" y="0"/>
                </a:lnTo>
                <a:lnTo>
                  <a:pt x="2161044" y="15621"/>
                </a:lnTo>
                <a:lnTo>
                  <a:pt x="2186863" y="51661"/>
                </a:lnTo>
                <a:lnTo>
                  <a:pt x="2190750" y="71196"/>
                </a:lnTo>
                <a:lnTo>
                  <a:pt x="2190750" y="500303"/>
                </a:lnTo>
                <a:lnTo>
                  <a:pt x="2175126" y="541794"/>
                </a:lnTo>
                <a:lnTo>
                  <a:pt x="2139086" y="567613"/>
                </a:lnTo>
                <a:lnTo>
                  <a:pt x="2124509" y="571011"/>
                </a:lnTo>
                <a:lnTo>
                  <a:pt x="2119553" y="57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563645" y="3844925"/>
            <a:ext cx="9518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9580C"/>
                </a:solidFill>
                <a:latin typeface="Courier New"/>
                <a:cs typeface="Courier New"/>
              </a:rPr>
              <a:t>font-</a:t>
            </a:r>
            <a:r>
              <a:rPr sz="1350" spc="-20" dirty="0">
                <a:solidFill>
                  <a:srgbClr val="E9580C"/>
                </a:solidFill>
                <a:latin typeface="Courier New"/>
                <a:cs typeface="Courier New"/>
              </a:rPr>
              <a:t>size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38924" y="4391024"/>
            <a:ext cx="2190750" cy="571500"/>
          </a:xfrm>
          <a:custGeom>
            <a:avLst/>
            <a:gdLst/>
            <a:ahLst/>
            <a:cxnLst/>
            <a:rect l="l" t="t" r="r" b="b"/>
            <a:pathLst>
              <a:path w="2190750" h="571500">
                <a:moveTo>
                  <a:pt x="211955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2119553" y="0"/>
                </a:lnTo>
                <a:lnTo>
                  <a:pt x="2161043" y="15621"/>
                </a:lnTo>
                <a:lnTo>
                  <a:pt x="2186864" y="51661"/>
                </a:lnTo>
                <a:lnTo>
                  <a:pt x="2190749" y="71196"/>
                </a:lnTo>
                <a:lnTo>
                  <a:pt x="2190749" y="500303"/>
                </a:lnTo>
                <a:lnTo>
                  <a:pt x="2175128" y="541793"/>
                </a:lnTo>
                <a:lnTo>
                  <a:pt x="2139087" y="567612"/>
                </a:lnTo>
                <a:lnTo>
                  <a:pt x="2124508" y="571011"/>
                </a:lnTo>
                <a:lnTo>
                  <a:pt x="2119553" y="57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07101" y="4530725"/>
            <a:ext cx="10547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9580C"/>
                </a:solidFill>
                <a:latin typeface="Courier New"/>
                <a:cs typeface="Courier New"/>
              </a:rPr>
              <a:t>background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943973" y="4391024"/>
            <a:ext cx="2190750" cy="571500"/>
          </a:xfrm>
          <a:custGeom>
            <a:avLst/>
            <a:gdLst/>
            <a:ahLst/>
            <a:cxnLst/>
            <a:rect l="l" t="t" r="r" b="b"/>
            <a:pathLst>
              <a:path w="2190750" h="571500">
                <a:moveTo>
                  <a:pt x="211955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2119553" y="0"/>
                </a:lnTo>
                <a:lnTo>
                  <a:pt x="2161044" y="15621"/>
                </a:lnTo>
                <a:lnTo>
                  <a:pt x="2186863" y="51661"/>
                </a:lnTo>
                <a:lnTo>
                  <a:pt x="2190750" y="71196"/>
                </a:lnTo>
                <a:lnTo>
                  <a:pt x="2190750" y="500303"/>
                </a:lnTo>
                <a:lnTo>
                  <a:pt x="2175126" y="541793"/>
                </a:lnTo>
                <a:lnTo>
                  <a:pt x="2139086" y="567612"/>
                </a:lnTo>
                <a:lnTo>
                  <a:pt x="2124509" y="571011"/>
                </a:lnTo>
                <a:lnTo>
                  <a:pt x="2119553" y="57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17979" y="4530725"/>
            <a:ext cx="6432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9580C"/>
                </a:solidFill>
                <a:latin typeface="Courier New"/>
                <a:cs typeface="Courier New"/>
              </a:rPr>
              <a:t>margin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38924" y="5076824"/>
            <a:ext cx="4495800" cy="571500"/>
          </a:xfrm>
          <a:custGeom>
            <a:avLst/>
            <a:gdLst/>
            <a:ahLst/>
            <a:cxnLst/>
            <a:rect l="l" t="t" r="r" b="b"/>
            <a:pathLst>
              <a:path w="4495800" h="571500">
                <a:moveTo>
                  <a:pt x="4424603" y="571499"/>
                </a:moveTo>
                <a:lnTo>
                  <a:pt x="71196" y="571499"/>
                </a:lnTo>
                <a:lnTo>
                  <a:pt x="66241" y="571011"/>
                </a:lnTo>
                <a:lnTo>
                  <a:pt x="29705" y="555877"/>
                </a:lnTo>
                <a:lnTo>
                  <a:pt x="3885" y="519837"/>
                </a:lnTo>
                <a:lnTo>
                  <a:pt x="0" y="500303"/>
                </a:lnTo>
                <a:lnTo>
                  <a:pt x="0" y="495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424603" y="0"/>
                </a:lnTo>
                <a:lnTo>
                  <a:pt x="4466093" y="15621"/>
                </a:lnTo>
                <a:lnTo>
                  <a:pt x="4491913" y="51661"/>
                </a:lnTo>
                <a:lnTo>
                  <a:pt x="4495800" y="71196"/>
                </a:lnTo>
                <a:lnTo>
                  <a:pt x="4495800" y="500303"/>
                </a:lnTo>
                <a:lnTo>
                  <a:pt x="4480176" y="541794"/>
                </a:lnTo>
                <a:lnTo>
                  <a:pt x="4444135" y="567613"/>
                </a:lnTo>
                <a:lnTo>
                  <a:pt x="4429558" y="571011"/>
                </a:lnTo>
                <a:lnTo>
                  <a:pt x="4424603" y="5714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13960" y="5216525"/>
            <a:ext cx="7461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9580C"/>
                </a:solidFill>
                <a:latin typeface="Courier New"/>
                <a:cs typeface="Courier New"/>
              </a:rPr>
              <a:t>padding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4700" cy="6921500"/>
            <a:chOff x="0" y="0"/>
            <a:chExt cx="12204700" cy="6921500"/>
          </a:xfrm>
        </p:grpSpPr>
        <p:sp>
          <p:nvSpPr>
            <p:cNvPr id="3" name="object 3"/>
            <p:cNvSpPr/>
            <p:nvPr/>
          </p:nvSpPr>
          <p:spPr>
            <a:xfrm>
              <a:off x="0" y="8902"/>
              <a:ext cx="12204700" cy="6912609"/>
            </a:xfrm>
            <a:custGeom>
              <a:avLst/>
              <a:gdLst/>
              <a:ahLst/>
              <a:cxnLst/>
              <a:rect l="l" t="t" r="r" b="b"/>
              <a:pathLst>
                <a:path w="12204700" h="6912609">
                  <a:moveTo>
                    <a:pt x="9512" y="0"/>
                  </a:moveTo>
                  <a:lnTo>
                    <a:pt x="0" y="0"/>
                  </a:lnTo>
                  <a:lnTo>
                    <a:pt x="0" y="6838950"/>
                  </a:lnTo>
                  <a:lnTo>
                    <a:pt x="9512" y="6838950"/>
                  </a:lnTo>
                  <a:lnTo>
                    <a:pt x="9512" y="0"/>
                  </a:lnTo>
                  <a:close/>
                </a:path>
                <a:path w="12204700" h="6912609">
                  <a:moveTo>
                    <a:pt x="12204179" y="6849097"/>
                  </a:moveTo>
                  <a:lnTo>
                    <a:pt x="0" y="6849097"/>
                  </a:lnTo>
                  <a:lnTo>
                    <a:pt x="0" y="6912610"/>
                  </a:lnTo>
                  <a:lnTo>
                    <a:pt x="12204179" y="6912610"/>
                  </a:lnTo>
                  <a:lnTo>
                    <a:pt x="12204179" y="6849097"/>
                  </a:lnTo>
                  <a:close/>
                </a:path>
                <a:path w="12204700" h="6912609">
                  <a:moveTo>
                    <a:pt x="12204179" y="635"/>
                  </a:moveTo>
                  <a:lnTo>
                    <a:pt x="12201512" y="635"/>
                  </a:lnTo>
                  <a:lnTo>
                    <a:pt x="12201512" y="6839572"/>
                  </a:lnTo>
                  <a:lnTo>
                    <a:pt x="12204179" y="6839572"/>
                  </a:lnTo>
                  <a:lnTo>
                    <a:pt x="12204179" y="635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4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449" y="673099"/>
              <a:ext cx="215900" cy="2159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40" dirty="0"/>
              <a:t>4.</a:t>
            </a:r>
            <a:r>
              <a:rPr spc="-35" dirty="0"/>
              <a:t> </a:t>
            </a:r>
            <a:r>
              <a:rPr spc="-65" dirty="0">
                <a:solidFill>
                  <a:srgbClr val="E9580C"/>
                </a:solidFill>
              </a:rPr>
              <a:t>Value</a:t>
            </a:r>
            <a:r>
              <a:rPr spc="-195" dirty="0">
                <a:solidFill>
                  <a:srgbClr val="E9580C"/>
                </a:solidFill>
              </a:rPr>
              <a:t> </a:t>
            </a:r>
            <a:r>
              <a:rPr dirty="0"/>
              <a:t>&amp;</a:t>
            </a:r>
            <a:r>
              <a:rPr spc="-225" dirty="0"/>
              <a:t> </a:t>
            </a:r>
            <a:r>
              <a:rPr spc="-335" dirty="0"/>
              <a:t>5.</a:t>
            </a:r>
            <a:r>
              <a:rPr spc="-20" dirty="0"/>
              <a:t> </a:t>
            </a:r>
            <a:r>
              <a:rPr spc="-60" dirty="0">
                <a:solidFill>
                  <a:srgbClr val="E9580C"/>
                </a:solidFill>
              </a:rPr>
              <a:t>Declaration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790574" y="1904999"/>
            <a:ext cx="5124450" cy="4391025"/>
          </a:xfrm>
          <a:custGeom>
            <a:avLst/>
            <a:gdLst/>
            <a:ahLst/>
            <a:cxnLst/>
            <a:rect l="l" t="t" r="r" b="b"/>
            <a:pathLst>
              <a:path w="5124450" h="4391025">
                <a:moveTo>
                  <a:pt x="4972049" y="4391024"/>
                </a:moveTo>
                <a:lnTo>
                  <a:pt x="133349" y="4391024"/>
                </a:lnTo>
                <a:lnTo>
                  <a:pt x="126798" y="4390841"/>
                </a:lnTo>
                <a:lnTo>
                  <a:pt x="88432" y="4382119"/>
                </a:lnTo>
                <a:lnTo>
                  <a:pt x="53906" y="4361028"/>
                </a:lnTo>
                <a:lnTo>
                  <a:pt x="26246" y="4329416"/>
                </a:lnTo>
                <a:lnTo>
                  <a:pt x="7791" y="4289957"/>
                </a:lnTo>
                <a:lnTo>
                  <a:pt x="160" y="4246111"/>
                </a:lnTo>
                <a:lnTo>
                  <a:pt x="0" y="4238624"/>
                </a:lnTo>
                <a:lnTo>
                  <a:pt x="0" y="152399"/>
                </a:lnTo>
                <a:lnTo>
                  <a:pt x="5740" y="108159"/>
                </a:lnTo>
                <a:lnTo>
                  <a:pt x="22473" y="67730"/>
                </a:lnTo>
                <a:lnTo>
                  <a:pt x="48752" y="34591"/>
                </a:lnTo>
                <a:lnTo>
                  <a:pt x="82319" y="11600"/>
                </a:lnTo>
                <a:lnTo>
                  <a:pt x="120279" y="732"/>
                </a:lnTo>
                <a:lnTo>
                  <a:pt x="133349" y="0"/>
                </a:lnTo>
                <a:lnTo>
                  <a:pt x="4972049" y="0"/>
                </a:lnTo>
                <a:lnTo>
                  <a:pt x="5016288" y="6560"/>
                </a:lnTo>
                <a:lnTo>
                  <a:pt x="5056717" y="25683"/>
                </a:lnTo>
                <a:lnTo>
                  <a:pt x="5089856" y="55717"/>
                </a:lnTo>
                <a:lnTo>
                  <a:pt x="5112847" y="94078"/>
                </a:lnTo>
                <a:lnTo>
                  <a:pt x="5123717" y="137461"/>
                </a:lnTo>
                <a:lnTo>
                  <a:pt x="5124449" y="152399"/>
                </a:lnTo>
                <a:lnTo>
                  <a:pt x="5124449" y="4238624"/>
                </a:lnTo>
                <a:lnTo>
                  <a:pt x="5117888" y="4282863"/>
                </a:lnTo>
                <a:lnTo>
                  <a:pt x="5098764" y="4323292"/>
                </a:lnTo>
                <a:lnTo>
                  <a:pt x="5068731" y="4356432"/>
                </a:lnTo>
                <a:lnTo>
                  <a:pt x="5030369" y="4379423"/>
                </a:lnTo>
                <a:lnTo>
                  <a:pt x="4986987" y="4390292"/>
                </a:lnTo>
                <a:lnTo>
                  <a:pt x="4972049" y="4391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1512" y="1904999"/>
            <a:ext cx="800100" cy="4391025"/>
          </a:xfrm>
          <a:custGeom>
            <a:avLst/>
            <a:gdLst/>
            <a:ahLst/>
            <a:cxnLst/>
            <a:rect l="l" t="t" r="r" b="b"/>
            <a:pathLst>
              <a:path w="800100" h="4391025">
                <a:moveTo>
                  <a:pt x="152400" y="0"/>
                </a:moveTo>
                <a:lnTo>
                  <a:pt x="108229" y="6527"/>
                </a:lnTo>
                <a:lnTo>
                  <a:pt x="67716" y="25666"/>
                </a:lnTo>
                <a:lnTo>
                  <a:pt x="34544" y="55765"/>
                </a:lnTo>
                <a:lnTo>
                  <a:pt x="11607" y="94081"/>
                </a:lnTo>
                <a:lnTo>
                  <a:pt x="736" y="137388"/>
                </a:lnTo>
                <a:lnTo>
                  <a:pt x="0" y="152400"/>
                </a:lnTo>
                <a:lnTo>
                  <a:pt x="0" y="4238625"/>
                </a:lnTo>
                <a:lnTo>
                  <a:pt x="6527" y="4282808"/>
                </a:lnTo>
                <a:lnTo>
                  <a:pt x="25666" y="4323321"/>
                </a:lnTo>
                <a:lnTo>
                  <a:pt x="55765" y="4356493"/>
                </a:lnTo>
                <a:lnTo>
                  <a:pt x="94081" y="4379430"/>
                </a:lnTo>
                <a:lnTo>
                  <a:pt x="137388" y="4390301"/>
                </a:lnTo>
                <a:lnTo>
                  <a:pt x="152400" y="4391025"/>
                </a:lnTo>
                <a:lnTo>
                  <a:pt x="141147" y="4390301"/>
                </a:lnTo>
                <a:lnTo>
                  <a:pt x="130098" y="4388129"/>
                </a:lnTo>
                <a:lnTo>
                  <a:pt x="88887" y="4365371"/>
                </a:lnTo>
                <a:lnTo>
                  <a:pt x="64008" y="4335259"/>
                </a:lnTo>
                <a:lnTo>
                  <a:pt x="46812" y="4296956"/>
                </a:lnTo>
                <a:lnTo>
                  <a:pt x="38646" y="4253649"/>
                </a:lnTo>
                <a:lnTo>
                  <a:pt x="38100" y="4238625"/>
                </a:lnTo>
                <a:lnTo>
                  <a:pt x="38100" y="152400"/>
                </a:lnTo>
                <a:lnTo>
                  <a:pt x="43002" y="108229"/>
                </a:lnTo>
                <a:lnTo>
                  <a:pt x="57353" y="67716"/>
                </a:lnTo>
                <a:lnTo>
                  <a:pt x="79933" y="34544"/>
                </a:lnTo>
                <a:lnTo>
                  <a:pt x="119278" y="6527"/>
                </a:lnTo>
                <a:lnTo>
                  <a:pt x="141147" y="736"/>
                </a:lnTo>
                <a:lnTo>
                  <a:pt x="152400" y="0"/>
                </a:lnTo>
                <a:close/>
              </a:path>
              <a:path w="800100" h="4391025">
                <a:moveTo>
                  <a:pt x="800100" y="525919"/>
                </a:moveTo>
                <a:lnTo>
                  <a:pt x="794258" y="481469"/>
                </a:lnTo>
                <a:lnTo>
                  <a:pt x="779843" y="439013"/>
                </a:lnTo>
                <a:lnTo>
                  <a:pt x="757415" y="400177"/>
                </a:lnTo>
                <a:lnTo>
                  <a:pt x="727862" y="366471"/>
                </a:lnTo>
                <a:lnTo>
                  <a:pt x="692289" y="339178"/>
                </a:lnTo>
                <a:lnTo>
                  <a:pt x="652068" y="319341"/>
                </a:lnTo>
                <a:lnTo>
                  <a:pt x="608761" y="307733"/>
                </a:lnTo>
                <a:lnTo>
                  <a:pt x="578993" y="304812"/>
                </a:lnTo>
                <a:lnTo>
                  <a:pt x="564019" y="304812"/>
                </a:lnTo>
                <a:lnTo>
                  <a:pt x="519569" y="310654"/>
                </a:lnTo>
                <a:lnTo>
                  <a:pt x="477113" y="325069"/>
                </a:lnTo>
                <a:lnTo>
                  <a:pt x="438277" y="347497"/>
                </a:lnTo>
                <a:lnTo>
                  <a:pt x="404571" y="377050"/>
                </a:lnTo>
                <a:lnTo>
                  <a:pt x="377278" y="412623"/>
                </a:lnTo>
                <a:lnTo>
                  <a:pt x="357441" y="452843"/>
                </a:lnTo>
                <a:lnTo>
                  <a:pt x="345833" y="496150"/>
                </a:lnTo>
                <a:lnTo>
                  <a:pt x="342900" y="525919"/>
                </a:lnTo>
                <a:lnTo>
                  <a:pt x="342900" y="540893"/>
                </a:lnTo>
                <a:lnTo>
                  <a:pt x="348754" y="585343"/>
                </a:lnTo>
                <a:lnTo>
                  <a:pt x="363169" y="627799"/>
                </a:lnTo>
                <a:lnTo>
                  <a:pt x="385597" y="666635"/>
                </a:lnTo>
                <a:lnTo>
                  <a:pt x="415150" y="700341"/>
                </a:lnTo>
                <a:lnTo>
                  <a:pt x="450723" y="727633"/>
                </a:lnTo>
                <a:lnTo>
                  <a:pt x="490943" y="747471"/>
                </a:lnTo>
                <a:lnTo>
                  <a:pt x="534250" y="759079"/>
                </a:lnTo>
                <a:lnTo>
                  <a:pt x="564019" y="762012"/>
                </a:lnTo>
                <a:lnTo>
                  <a:pt x="578993" y="762012"/>
                </a:lnTo>
                <a:lnTo>
                  <a:pt x="623443" y="756158"/>
                </a:lnTo>
                <a:lnTo>
                  <a:pt x="665899" y="741743"/>
                </a:lnTo>
                <a:lnTo>
                  <a:pt x="704735" y="719315"/>
                </a:lnTo>
                <a:lnTo>
                  <a:pt x="738441" y="689762"/>
                </a:lnTo>
                <a:lnTo>
                  <a:pt x="765733" y="654189"/>
                </a:lnTo>
                <a:lnTo>
                  <a:pt x="785571" y="613968"/>
                </a:lnTo>
                <a:lnTo>
                  <a:pt x="797179" y="570661"/>
                </a:lnTo>
                <a:lnTo>
                  <a:pt x="800100" y="540893"/>
                </a:lnTo>
                <a:lnTo>
                  <a:pt x="800100" y="533412"/>
                </a:lnTo>
                <a:lnTo>
                  <a:pt x="800100" y="525919"/>
                </a:lnTo>
                <a:close/>
              </a:path>
            </a:pathLst>
          </a:custGeom>
          <a:solidFill>
            <a:srgbClr val="DB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2359024"/>
            <a:ext cx="190500" cy="1587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73224" y="2268194"/>
            <a:ext cx="65341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75" dirty="0">
                <a:solidFill>
                  <a:srgbClr val="292524"/>
                </a:solidFill>
                <a:latin typeface="Tahoma"/>
                <a:cs typeface="Tahoma"/>
              </a:rPr>
              <a:t>Value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1724" y="2900502"/>
            <a:ext cx="15201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Nilai</a:t>
            </a:r>
            <a:r>
              <a:rPr sz="1400" spc="2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dari</a:t>
            </a:r>
            <a:r>
              <a:rPr sz="1400" spc="2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property.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14424" y="3400424"/>
            <a:ext cx="4495800" cy="1219200"/>
          </a:xfrm>
          <a:custGeom>
            <a:avLst/>
            <a:gdLst/>
            <a:ahLst/>
            <a:cxnLst/>
            <a:rect l="l" t="t" r="r" b="b"/>
            <a:pathLst>
              <a:path w="4495800" h="1219200">
                <a:moveTo>
                  <a:pt x="4424602" y="1219199"/>
                </a:moveTo>
                <a:lnTo>
                  <a:pt x="71196" y="1219199"/>
                </a:lnTo>
                <a:lnTo>
                  <a:pt x="66241" y="1218711"/>
                </a:lnTo>
                <a:lnTo>
                  <a:pt x="29705" y="1203577"/>
                </a:lnTo>
                <a:lnTo>
                  <a:pt x="3885" y="1167537"/>
                </a:lnTo>
                <a:lnTo>
                  <a:pt x="0" y="1148003"/>
                </a:lnTo>
                <a:lnTo>
                  <a:pt x="0" y="11429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424602" y="0"/>
                </a:lnTo>
                <a:lnTo>
                  <a:pt x="4466093" y="15621"/>
                </a:lnTo>
                <a:lnTo>
                  <a:pt x="4491913" y="51661"/>
                </a:lnTo>
                <a:lnTo>
                  <a:pt x="4495799" y="71196"/>
                </a:lnTo>
                <a:lnTo>
                  <a:pt x="4495799" y="1148003"/>
                </a:lnTo>
                <a:lnTo>
                  <a:pt x="4480176" y="1189493"/>
                </a:lnTo>
                <a:lnTo>
                  <a:pt x="4444137" y="1215313"/>
                </a:lnTo>
                <a:lnTo>
                  <a:pt x="4429557" y="1218711"/>
                </a:lnTo>
                <a:lnTo>
                  <a:pt x="4424602" y="12191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54125" y="3549421"/>
            <a:ext cx="6654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Contoh</a:t>
            </a:r>
            <a:r>
              <a:rPr sz="1250" spc="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190" dirty="0">
                <a:solidFill>
                  <a:srgbClr val="4A5462"/>
                </a:solidFill>
                <a:latin typeface="Tahoma"/>
                <a:cs typeface="Tahoma"/>
              </a:rPr>
              <a:t>1: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66824" y="4200524"/>
            <a:ext cx="1600200" cy="266700"/>
            <a:chOff x="1266824" y="4200524"/>
            <a:chExt cx="1600200" cy="266700"/>
          </a:xfrm>
        </p:grpSpPr>
        <p:sp>
          <p:nvSpPr>
            <p:cNvPr id="18" name="object 18"/>
            <p:cNvSpPr/>
            <p:nvPr/>
          </p:nvSpPr>
          <p:spPr>
            <a:xfrm>
              <a:off x="1266824" y="4200524"/>
              <a:ext cx="885825" cy="266700"/>
            </a:xfrm>
            <a:custGeom>
              <a:avLst/>
              <a:gdLst/>
              <a:ahLst/>
              <a:cxnLst/>
              <a:rect l="l" t="t" r="r" b="b"/>
              <a:pathLst>
                <a:path w="885825" h="266700">
                  <a:moveTo>
                    <a:pt x="852777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1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52777" y="0"/>
                  </a:lnTo>
                  <a:lnTo>
                    <a:pt x="884858" y="28187"/>
                  </a:lnTo>
                  <a:lnTo>
                    <a:pt x="885824" y="33047"/>
                  </a:lnTo>
                  <a:lnTo>
                    <a:pt x="885824" y="233651"/>
                  </a:lnTo>
                  <a:lnTo>
                    <a:pt x="857637" y="265732"/>
                  </a:lnTo>
                  <a:lnTo>
                    <a:pt x="852777" y="266699"/>
                  </a:lnTo>
                  <a:close/>
                </a:path>
              </a:pathLst>
            </a:custGeom>
            <a:solidFill>
              <a:srgbClr val="DB252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28849" y="4200524"/>
              <a:ext cx="638175" cy="266700"/>
            </a:xfrm>
            <a:custGeom>
              <a:avLst/>
              <a:gdLst/>
              <a:ahLst/>
              <a:cxnLst/>
              <a:rect l="l" t="t" r="r" b="b"/>
              <a:pathLst>
                <a:path w="638175" h="266700">
                  <a:moveTo>
                    <a:pt x="605127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1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05127" y="0"/>
                  </a:lnTo>
                  <a:lnTo>
                    <a:pt x="637208" y="28187"/>
                  </a:lnTo>
                  <a:lnTo>
                    <a:pt x="638174" y="33047"/>
                  </a:lnTo>
                  <a:lnTo>
                    <a:pt x="638174" y="233651"/>
                  </a:lnTo>
                  <a:lnTo>
                    <a:pt x="609987" y="265732"/>
                  </a:lnTo>
                  <a:lnTo>
                    <a:pt x="605127" y="266699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54124" y="3825875"/>
            <a:ext cx="1508125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B2525"/>
                </a:solidFill>
                <a:latin typeface="Courier New"/>
                <a:cs typeface="Courier New"/>
              </a:rPr>
              <a:t>color</a:t>
            </a:r>
            <a:r>
              <a:rPr sz="1500" dirty="0">
                <a:latin typeface="Courier New"/>
                <a:cs typeface="Courier New"/>
              </a:rPr>
              <a:t>: </a:t>
            </a:r>
            <a:r>
              <a:rPr sz="1500" spc="-10" dirty="0">
                <a:solidFill>
                  <a:srgbClr val="0FB981"/>
                </a:solidFill>
                <a:latin typeface="Courier New"/>
                <a:cs typeface="Courier New"/>
              </a:rPr>
              <a:t>blue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126364">
              <a:lnSpc>
                <a:spcPct val="100000"/>
              </a:lnSpc>
              <a:spcBef>
                <a:spcPts val="1350"/>
              </a:spcBef>
              <a:tabLst>
                <a:tab pos="1086485" algn="l"/>
              </a:tabLst>
            </a:pPr>
            <a:r>
              <a:rPr sz="1050" b="1" spc="90" dirty="0">
                <a:solidFill>
                  <a:srgbClr val="DB2525"/>
                </a:solidFill>
                <a:latin typeface="Trebuchet MS"/>
                <a:cs typeface="Trebuchet MS"/>
              </a:rPr>
              <a:t>property</a:t>
            </a:r>
            <a:r>
              <a:rPr sz="1050" b="1" dirty="0">
                <a:solidFill>
                  <a:srgbClr val="DB2525"/>
                </a:solidFill>
                <a:latin typeface="Trebuchet MS"/>
                <a:cs typeface="Trebuchet MS"/>
              </a:rPr>
              <a:t>	</a:t>
            </a:r>
            <a:r>
              <a:rPr sz="1050" b="1" spc="100" dirty="0">
                <a:solidFill>
                  <a:srgbClr val="0FB981"/>
                </a:solidFill>
                <a:latin typeface="Trebuchet MS"/>
                <a:cs typeface="Trebuchet MS"/>
              </a:rPr>
              <a:t>value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14424" y="4772024"/>
            <a:ext cx="4495800" cy="1219200"/>
          </a:xfrm>
          <a:custGeom>
            <a:avLst/>
            <a:gdLst/>
            <a:ahLst/>
            <a:cxnLst/>
            <a:rect l="l" t="t" r="r" b="b"/>
            <a:pathLst>
              <a:path w="4495800" h="1219200">
                <a:moveTo>
                  <a:pt x="4424602" y="1219199"/>
                </a:moveTo>
                <a:lnTo>
                  <a:pt x="71196" y="1219199"/>
                </a:lnTo>
                <a:lnTo>
                  <a:pt x="66241" y="1218710"/>
                </a:lnTo>
                <a:lnTo>
                  <a:pt x="29705" y="1203577"/>
                </a:lnTo>
                <a:lnTo>
                  <a:pt x="3885" y="1167537"/>
                </a:lnTo>
                <a:lnTo>
                  <a:pt x="0" y="1148003"/>
                </a:lnTo>
                <a:lnTo>
                  <a:pt x="0" y="11429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424602" y="0"/>
                </a:lnTo>
                <a:lnTo>
                  <a:pt x="4466093" y="15621"/>
                </a:lnTo>
                <a:lnTo>
                  <a:pt x="4491913" y="51661"/>
                </a:lnTo>
                <a:lnTo>
                  <a:pt x="4495799" y="71196"/>
                </a:lnTo>
                <a:lnTo>
                  <a:pt x="4495799" y="1148003"/>
                </a:lnTo>
                <a:lnTo>
                  <a:pt x="4480176" y="1189493"/>
                </a:lnTo>
                <a:lnTo>
                  <a:pt x="4444137" y="1215312"/>
                </a:lnTo>
                <a:lnTo>
                  <a:pt x="4429557" y="1218710"/>
                </a:lnTo>
                <a:lnTo>
                  <a:pt x="4424602" y="12191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54125" y="4921021"/>
            <a:ext cx="69342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Contoh</a:t>
            </a:r>
            <a:r>
              <a:rPr sz="1250" spc="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80" dirty="0">
                <a:solidFill>
                  <a:srgbClr val="4A5462"/>
                </a:solidFill>
                <a:latin typeface="Tahoma"/>
                <a:cs typeface="Tahoma"/>
              </a:rPr>
              <a:t>2: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66824" y="5572124"/>
            <a:ext cx="1600200" cy="266700"/>
            <a:chOff x="1266824" y="5572124"/>
            <a:chExt cx="1600200" cy="266700"/>
          </a:xfrm>
        </p:grpSpPr>
        <p:sp>
          <p:nvSpPr>
            <p:cNvPr id="24" name="object 24"/>
            <p:cNvSpPr/>
            <p:nvPr/>
          </p:nvSpPr>
          <p:spPr>
            <a:xfrm>
              <a:off x="1266824" y="5572124"/>
              <a:ext cx="885825" cy="266700"/>
            </a:xfrm>
            <a:custGeom>
              <a:avLst/>
              <a:gdLst/>
              <a:ahLst/>
              <a:cxnLst/>
              <a:rect l="l" t="t" r="r" b="b"/>
              <a:pathLst>
                <a:path w="885825" h="266700">
                  <a:moveTo>
                    <a:pt x="852777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52777" y="0"/>
                  </a:lnTo>
                  <a:lnTo>
                    <a:pt x="884858" y="28187"/>
                  </a:lnTo>
                  <a:lnTo>
                    <a:pt x="885824" y="33047"/>
                  </a:lnTo>
                  <a:lnTo>
                    <a:pt x="885824" y="233652"/>
                  </a:lnTo>
                  <a:lnTo>
                    <a:pt x="857637" y="265732"/>
                  </a:lnTo>
                  <a:lnTo>
                    <a:pt x="852777" y="266699"/>
                  </a:lnTo>
                  <a:close/>
                </a:path>
              </a:pathLst>
            </a:custGeom>
            <a:solidFill>
              <a:srgbClr val="DB252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28849" y="5572124"/>
              <a:ext cx="638175" cy="266700"/>
            </a:xfrm>
            <a:custGeom>
              <a:avLst/>
              <a:gdLst/>
              <a:ahLst/>
              <a:cxnLst/>
              <a:rect l="l" t="t" r="r" b="b"/>
              <a:pathLst>
                <a:path w="638175" h="266700">
                  <a:moveTo>
                    <a:pt x="605127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05127" y="0"/>
                  </a:lnTo>
                  <a:lnTo>
                    <a:pt x="637208" y="28187"/>
                  </a:lnTo>
                  <a:lnTo>
                    <a:pt x="638174" y="33047"/>
                  </a:lnTo>
                  <a:lnTo>
                    <a:pt x="638174" y="233652"/>
                  </a:lnTo>
                  <a:lnTo>
                    <a:pt x="609987" y="265732"/>
                  </a:lnTo>
                  <a:lnTo>
                    <a:pt x="605127" y="266699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54124" y="5197474"/>
            <a:ext cx="1854835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B2525"/>
                </a:solidFill>
                <a:latin typeface="Courier New"/>
                <a:cs typeface="Courier New"/>
              </a:rPr>
              <a:t>font-size</a:t>
            </a:r>
            <a:r>
              <a:rPr sz="1500" dirty="0">
                <a:latin typeface="Courier New"/>
                <a:cs typeface="Courier New"/>
              </a:rPr>
              <a:t>: </a:t>
            </a:r>
            <a:r>
              <a:rPr sz="1500" spc="-10" dirty="0">
                <a:solidFill>
                  <a:srgbClr val="0FB981"/>
                </a:solidFill>
                <a:latin typeface="Courier New"/>
                <a:cs typeface="Courier New"/>
              </a:rPr>
              <a:t>24px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126364">
              <a:lnSpc>
                <a:spcPct val="100000"/>
              </a:lnSpc>
              <a:spcBef>
                <a:spcPts val="1350"/>
              </a:spcBef>
              <a:tabLst>
                <a:tab pos="1086485" algn="l"/>
              </a:tabLst>
            </a:pPr>
            <a:r>
              <a:rPr sz="1050" b="1" spc="90" dirty="0">
                <a:solidFill>
                  <a:srgbClr val="DB2525"/>
                </a:solidFill>
                <a:latin typeface="Trebuchet MS"/>
                <a:cs typeface="Trebuchet MS"/>
              </a:rPr>
              <a:t>property</a:t>
            </a:r>
            <a:r>
              <a:rPr sz="1050" b="1" dirty="0">
                <a:solidFill>
                  <a:srgbClr val="DB2525"/>
                </a:solidFill>
                <a:latin typeface="Trebuchet MS"/>
                <a:cs typeface="Trebuchet MS"/>
              </a:rPr>
              <a:t>	</a:t>
            </a:r>
            <a:r>
              <a:rPr sz="1050" b="1" spc="100" dirty="0">
                <a:solidFill>
                  <a:srgbClr val="0FB981"/>
                </a:solidFill>
                <a:latin typeface="Trebuchet MS"/>
                <a:cs typeface="Trebuchet MS"/>
              </a:rPr>
              <a:t>value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15074" y="2133599"/>
            <a:ext cx="5124450" cy="3933825"/>
          </a:xfrm>
          <a:custGeom>
            <a:avLst/>
            <a:gdLst/>
            <a:ahLst/>
            <a:cxnLst/>
            <a:rect l="l" t="t" r="r" b="b"/>
            <a:pathLst>
              <a:path w="5124450" h="3933825">
                <a:moveTo>
                  <a:pt x="4972049" y="3933824"/>
                </a:moveTo>
                <a:lnTo>
                  <a:pt x="133349" y="3933824"/>
                </a:lnTo>
                <a:lnTo>
                  <a:pt x="126798" y="3933641"/>
                </a:lnTo>
                <a:lnTo>
                  <a:pt x="88431" y="3924919"/>
                </a:lnTo>
                <a:lnTo>
                  <a:pt x="53905" y="3903828"/>
                </a:lnTo>
                <a:lnTo>
                  <a:pt x="26245" y="3872216"/>
                </a:lnTo>
                <a:lnTo>
                  <a:pt x="7790" y="3832757"/>
                </a:lnTo>
                <a:lnTo>
                  <a:pt x="160" y="3788911"/>
                </a:lnTo>
                <a:lnTo>
                  <a:pt x="0" y="3781424"/>
                </a:lnTo>
                <a:lnTo>
                  <a:pt x="0" y="152399"/>
                </a:lnTo>
                <a:lnTo>
                  <a:pt x="5739" y="108159"/>
                </a:lnTo>
                <a:lnTo>
                  <a:pt x="22473" y="67730"/>
                </a:lnTo>
                <a:lnTo>
                  <a:pt x="48751" y="34591"/>
                </a:lnTo>
                <a:lnTo>
                  <a:pt x="82318" y="11600"/>
                </a:lnTo>
                <a:lnTo>
                  <a:pt x="120278" y="732"/>
                </a:lnTo>
                <a:lnTo>
                  <a:pt x="133349" y="0"/>
                </a:lnTo>
                <a:lnTo>
                  <a:pt x="4972049" y="0"/>
                </a:lnTo>
                <a:lnTo>
                  <a:pt x="5016288" y="6560"/>
                </a:lnTo>
                <a:lnTo>
                  <a:pt x="5056716" y="25683"/>
                </a:lnTo>
                <a:lnTo>
                  <a:pt x="5089857" y="55717"/>
                </a:lnTo>
                <a:lnTo>
                  <a:pt x="5112847" y="94078"/>
                </a:lnTo>
                <a:lnTo>
                  <a:pt x="5123717" y="137461"/>
                </a:lnTo>
                <a:lnTo>
                  <a:pt x="5124449" y="152399"/>
                </a:lnTo>
                <a:lnTo>
                  <a:pt x="5124449" y="3781424"/>
                </a:lnTo>
                <a:lnTo>
                  <a:pt x="5117887" y="3825663"/>
                </a:lnTo>
                <a:lnTo>
                  <a:pt x="5098763" y="3866093"/>
                </a:lnTo>
                <a:lnTo>
                  <a:pt x="5068730" y="3899232"/>
                </a:lnTo>
                <a:lnTo>
                  <a:pt x="5030369" y="3922223"/>
                </a:lnTo>
                <a:lnTo>
                  <a:pt x="4986986" y="3933092"/>
                </a:lnTo>
                <a:lnTo>
                  <a:pt x="4972049" y="3933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96012" y="2133599"/>
            <a:ext cx="800100" cy="3933825"/>
          </a:xfrm>
          <a:custGeom>
            <a:avLst/>
            <a:gdLst/>
            <a:ahLst/>
            <a:cxnLst/>
            <a:rect l="l" t="t" r="r" b="b"/>
            <a:pathLst>
              <a:path w="800100" h="3933825">
                <a:moveTo>
                  <a:pt x="152400" y="0"/>
                </a:moveTo>
                <a:lnTo>
                  <a:pt x="108229" y="6527"/>
                </a:lnTo>
                <a:lnTo>
                  <a:pt x="67716" y="25666"/>
                </a:lnTo>
                <a:lnTo>
                  <a:pt x="34544" y="55765"/>
                </a:lnTo>
                <a:lnTo>
                  <a:pt x="11607" y="94081"/>
                </a:lnTo>
                <a:lnTo>
                  <a:pt x="736" y="137388"/>
                </a:lnTo>
                <a:lnTo>
                  <a:pt x="0" y="152400"/>
                </a:lnTo>
                <a:lnTo>
                  <a:pt x="0" y="3781425"/>
                </a:lnTo>
                <a:lnTo>
                  <a:pt x="6527" y="3825608"/>
                </a:lnTo>
                <a:lnTo>
                  <a:pt x="25666" y="3866121"/>
                </a:lnTo>
                <a:lnTo>
                  <a:pt x="55765" y="3899293"/>
                </a:lnTo>
                <a:lnTo>
                  <a:pt x="94081" y="3922230"/>
                </a:lnTo>
                <a:lnTo>
                  <a:pt x="137388" y="3933101"/>
                </a:lnTo>
                <a:lnTo>
                  <a:pt x="152400" y="3933825"/>
                </a:lnTo>
                <a:lnTo>
                  <a:pt x="141147" y="3933101"/>
                </a:lnTo>
                <a:lnTo>
                  <a:pt x="130098" y="3930929"/>
                </a:lnTo>
                <a:lnTo>
                  <a:pt x="88887" y="3908171"/>
                </a:lnTo>
                <a:lnTo>
                  <a:pt x="64008" y="3878059"/>
                </a:lnTo>
                <a:lnTo>
                  <a:pt x="46799" y="3839756"/>
                </a:lnTo>
                <a:lnTo>
                  <a:pt x="38646" y="3796449"/>
                </a:lnTo>
                <a:lnTo>
                  <a:pt x="38100" y="3781425"/>
                </a:lnTo>
                <a:lnTo>
                  <a:pt x="38100" y="152400"/>
                </a:lnTo>
                <a:lnTo>
                  <a:pt x="43002" y="108229"/>
                </a:lnTo>
                <a:lnTo>
                  <a:pt x="57353" y="67716"/>
                </a:lnTo>
                <a:lnTo>
                  <a:pt x="79933" y="34544"/>
                </a:lnTo>
                <a:lnTo>
                  <a:pt x="119278" y="6527"/>
                </a:lnTo>
                <a:lnTo>
                  <a:pt x="141147" y="736"/>
                </a:lnTo>
                <a:lnTo>
                  <a:pt x="152400" y="0"/>
                </a:lnTo>
                <a:close/>
              </a:path>
              <a:path w="800100" h="3933825">
                <a:moveTo>
                  <a:pt x="800100" y="525919"/>
                </a:moveTo>
                <a:lnTo>
                  <a:pt x="794258" y="481469"/>
                </a:lnTo>
                <a:lnTo>
                  <a:pt x="779843" y="439013"/>
                </a:lnTo>
                <a:lnTo>
                  <a:pt x="757415" y="400177"/>
                </a:lnTo>
                <a:lnTo>
                  <a:pt x="727862" y="366471"/>
                </a:lnTo>
                <a:lnTo>
                  <a:pt x="692289" y="339178"/>
                </a:lnTo>
                <a:lnTo>
                  <a:pt x="652068" y="319341"/>
                </a:lnTo>
                <a:lnTo>
                  <a:pt x="608761" y="307733"/>
                </a:lnTo>
                <a:lnTo>
                  <a:pt x="578993" y="304812"/>
                </a:lnTo>
                <a:lnTo>
                  <a:pt x="564019" y="304812"/>
                </a:lnTo>
                <a:lnTo>
                  <a:pt x="519569" y="310654"/>
                </a:lnTo>
                <a:lnTo>
                  <a:pt x="477100" y="325069"/>
                </a:lnTo>
                <a:lnTo>
                  <a:pt x="438277" y="347497"/>
                </a:lnTo>
                <a:lnTo>
                  <a:pt x="404571" y="377050"/>
                </a:lnTo>
                <a:lnTo>
                  <a:pt x="377266" y="412623"/>
                </a:lnTo>
                <a:lnTo>
                  <a:pt x="357441" y="452843"/>
                </a:lnTo>
                <a:lnTo>
                  <a:pt x="345833" y="496150"/>
                </a:lnTo>
                <a:lnTo>
                  <a:pt x="342900" y="525919"/>
                </a:lnTo>
                <a:lnTo>
                  <a:pt x="342900" y="540893"/>
                </a:lnTo>
                <a:lnTo>
                  <a:pt x="348754" y="585343"/>
                </a:lnTo>
                <a:lnTo>
                  <a:pt x="363169" y="627799"/>
                </a:lnTo>
                <a:lnTo>
                  <a:pt x="385584" y="666635"/>
                </a:lnTo>
                <a:lnTo>
                  <a:pt x="415150" y="700341"/>
                </a:lnTo>
                <a:lnTo>
                  <a:pt x="450723" y="727633"/>
                </a:lnTo>
                <a:lnTo>
                  <a:pt x="490943" y="747471"/>
                </a:lnTo>
                <a:lnTo>
                  <a:pt x="534250" y="759079"/>
                </a:lnTo>
                <a:lnTo>
                  <a:pt x="564019" y="762012"/>
                </a:lnTo>
                <a:lnTo>
                  <a:pt x="578993" y="762012"/>
                </a:lnTo>
                <a:lnTo>
                  <a:pt x="623443" y="756158"/>
                </a:lnTo>
                <a:lnTo>
                  <a:pt x="665899" y="741743"/>
                </a:lnTo>
                <a:lnTo>
                  <a:pt x="704735" y="719315"/>
                </a:lnTo>
                <a:lnTo>
                  <a:pt x="738441" y="689762"/>
                </a:lnTo>
                <a:lnTo>
                  <a:pt x="765733" y="654189"/>
                </a:lnTo>
                <a:lnTo>
                  <a:pt x="785571" y="613968"/>
                </a:lnTo>
                <a:lnTo>
                  <a:pt x="797179" y="570661"/>
                </a:lnTo>
                <a:lnTo>
                  <a:pt x="800100" y="540893"/>
                </a:lnTo>
                <a:lnTo>
                  <a:pt x="800100" y="533412"/>
                </a:lnTo>
                <a:lnTo>
                  <a:pt x="800100" y="52591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1799" y="2559049"/>
            <a:ext cx="171450" cy="19367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197724" y="2496794"/>
            <a:ext cx="131191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80" dirty="0">
                <a:solidFill>
                  <a:srgbClr val="292524"/>
                </a:solidFill>
                <a:latin typeface="Tahoma"/>
                <a:cs typeface="Tahoma"/>
              </a:rPr>
              <a:t>Declaration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26224" y="3129102"/>
            <a:ext cx="30835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Gabungan</a:t>
            </a:r>
            <a:r>
              <a:rPr sz="1400" spc="1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antara</a:t>
            </a:r>
            <a:r>
              <a:rPr sz="1400" spc="18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property</a:t>
            </a:r>
            <a:r>
              <a:rPr sz="1400" spc="20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dan</a:t>
            </a:r>
            <a:r>
              <a:rPr sz="1400" spc="1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value.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38924" y="3629024"/>
            <a:ext cx="4495800" cy="762000"/>
          </a:xfrm>
          <a:custGeom>
            <a:avLst/>
            <a:gdLst/>
            <a:ahLst/>
            <a:cxnLst/>
            <a:rect l="l" t="t" r="r" b="b"/>
            <a:pathLst>
              <a:path w="4495800" h="762000">
                <a:moveTo>
                  <a:pt x="4424603" y="761999"/>
                </a:moveTo>
                <a:lnTo>
                  <a:pt x="71196" y="761999"/>
                </a:lnTo>
                <a:lnTo>
                  <a:pt x="66241" y="761511"/>
                </a:lnTo>
                <a:lnTo>
                  <a:pt x="29705" y="746377"/>
                </a:lnTo>
                <a:lnTo>
                  <a:pt x="3885" y="710337"/>
                </a:lnTo>
                <a:lnTo>
                  <a:pt x="0" y="690803"/>
                </a:lnTo>
                <a:lnTo>
                  <a:pt x="0" y="6857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424603" y="0"/>
                </a:lnTo>
                <a:lnTo>
                  <a:pt x="4466093" y="15621"/>
                </a:lnTo>
                <a:lnTo>
                  <a:pt x="4491913" y="51661"/>
                </a:lnTo>
                <a:lnTo>
                  <a:pt x="4495800" y="71196"/>
                </a:lnTo>
                <a:lnTo>
                  <a:pt x="4495800" y="690803"/>
                </a:lnTo>
                <a:lnTo>
                  <a:pt x="4480176" y="732293"/>
                </a:lnTo>
                <a:lnTo>
                  <a:pt x="4444135" y="758113"/>
                </a:lnTo>
                <a:lnTo>
                  <a:pt x="4429558" y="761511"/>
                </a:lnTo>
                <a:lnTo>
                  <a:pt x="4424603" y="761999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54825" y="3816350"/>
            <a:ext cx="1671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59D0A"/>
                </a:solidFill>
                <a:latin typeface="Courier New"/>
                <a:cs typeface="Courier New"/>
              </a:rPr>
              <a:t>color</a:t>
            </a:r>
            <a:r>
              <a:rPr sz="1800" dirty="0">
                <a:solidFill>
                  <a:srgbClr val="4ADE80"/>
                </a:solidFill>
                <a:latin typeface="Courier New"/>
                <a:cs typeface="Courier New"/>
              </a:rPr>
              <a:t>: </a:t>
            </a:r>
            <a:r>
              <a:rPr sz="1800" spc="-10" dirty="0">
                <a:solidFill>
                  <a:srgbClr val="0FB981"/>
                </a:solidFill>
                <a:latin typeface="Courier New"/>
                <a:cs typeface="Courier New"/>
              </a:rPr>
              <a:t>blue</a:t>
            </a:r>
            <a:r>
              <a:rPr sz="1800" spc="-10" dirty="0">
                <a:solidFill>
                  <a:srgbClr val="4ADE80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638924" y="4619624"/>
            <a:ext cx="4495800" cy="1143000"/>
            <a:chOff x="6638924" y="4619624"/>
            <a:chExt cx="4495800" cy="1143000"/>
          </a:xfrm>
        </p:grpSpPr>
        <p:sp>
          <p:nvSpPr>
            <p:cNvPr id="37" name="object 37"/>
            <p:cNvSpPr/>
            <p:nvPr/>
          </p:nvSpPr>
          <p:spPr>
            <a:xfrm>
              <a:off x="6657973" y="4619624"/>
              <a:ext cx="4476750" cy="1143000"/>
            </a:xfrm>
            <a:custGeom>
              <a:avLst/>
              <a:gdLst/>
              <a:ahLst/>
              <a:cxnLst/>
              <a:rect l="l" t="t" r="r" b="b"/>
              <a:pathLst>
                <a:path w="4476750" h="1143000">
                  <a:moveTo>
                    <a:pt x="4405553" y="1142999"/>
                  </a:moveTo>
                  <a:lnTo>
                    <a:pt x="53397" y="1142999"/>
                  </a:lnTo>
                  <a:lnTo>
                    <a:pt x="49680" y="1142511"/>
                  </a:lnTo>
                  <a:lnTo>
                    <a:pt x="14084" y="1117142"/>
                  </a:lnTo>
                  <a:lnTo>
                    <a:pt x="365" y="1076757"/>
                  </a:lnTo>
                  <a:lnTo>
                    <a:pt x="0" y="1071802"/>
                  </a:lnTo>
                  <a:lnTo>
                    <a:pt x="0" y="10667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4405553" y="0"/>
                  </a:lnTo>
                  <a:lnTo>
                    <a:pt x="4447043" y="15621"/>
                  </a:lnTo>
                  <a:lnTo>
                    <a:pt x="4472863" y="51661"/>
                  </a:lnTo>
                  <a:lnTo>
                    <a:pt x="4476750" y="71196"/>
                  </a:lnTo>
                  <a:lnTo>
                    <a:pt x="4476750" y="1071802"/>
                  </a:lnTo>
                  <a:lnTo>
                    <a:pt x="4461126" y="1113293"/>
                  </a:lnTo>
                  <a:lnTo>
                    <a:pt x="4425085" y="1139113"/>
                  </a:lnTo>
                  <a:lnTo>
                    <a:pt x="4410508" y="1142511"/>
                  </a:lnTo>
                  <a:lnTo>
                    <a:pt x="4405553" y="1142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8924" y="4619902"/>
              <a:ext cx="70485" cy="1143000"/>
            </a:xfrm>
            <a:custGeom>
              <a:avLst/>
              <a:gdLst/>
              <a:ahLst/>
              <a:cxnLst/>
              <a:rect l="l" t="t" r="r" b="b"/>
              <a:pathLst>
                <a:path w="70484" h="1143000">
                  <a:moveTo>
                    <a:pt x="70450" y="1142444"/>
                  </a:moveTo>
                  <a:lnTo>
                    <a:pt x="33857" y="1129891"/>
                  </a:lnTo>
                  <a:lnTo>
                    <a:pt x="5800" y="1095682"/>
                  </a:lnTo>
                  <a:lnTo>
                    <a:pt x="0" y="10665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066522"/>
                  </a:lnTo>
                  <a:lnTo>
                    <a:pt x="44515" y="1108864"/>
                  </a:lnTo>
                  <a:lnTo>
                    <a:pt x="66287" y="1140788"/>
                  </a:lnTo>
                  <a:lnTo>
                    <a:pt x="70450" y="114244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5299" y="4825999"/>
              <a:ext cx="158750" cy="15875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083424" y="4791191"/>
            <a:ext cx="122237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30" dirty="0">
                <a:solidFill>
                  <a:srgbClr val="292524"/>
                </a:solidFill>
                <a:latin typeface="Tahoma"/>
                <a:cs typeface="Tahoma"/>
              </a:rPr>
              <a:t>Catatan</a:t>
            </a:r>
            <a:r>
              <a:rPr sz="1250" b="1" spc="-4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250" b="1" spc="-70" dirty="0">
                <a:solidFill>
                  <a:srgbClr val="292524"/>
                </a:solidFill>
                <a:latin typeface="Tahoma"/>
                <a:cs typeface="Tahoma"/>
              </a:rPr>
              <a:t>Penting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16724" y="5044681"/>
            <a:ext cx="3890010" cy="53276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50"/>
              </a:spcBef>
            </a:pP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Satu</a:t>
            </a:r>
            <a:r>
              <a:rPr sz="1250" spc="8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declaration</a:t>
            </a:r>
            <a:r>
              <a:rPr sz="1250" spc="8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biasanya</a:t>
            </a:r>
            <a:r>
              <a:rPr sz="1250" spc="7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diakhiri</a:t>
            </a:r>
            <a:r>
              <a:rPr sz="1250" spc="114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tanda</a:t>
            </a:r>
            <a:r>
              <a:rPr sz="1250" spc="8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F59D0A"/>
                </a:solidFill>
                <a:latin typeface="Courier New"/>
                <a:cs typeface="Courier New"/>
              </a:rPr>
              <a:t>titik</a:t>
            </a:r>
            <a:r>
              <a:rPr sz="1200" b="1" spc="215" dirty="0">
                <a:solidFill>
                  <a:srgbClr val="F59D0A"/>
                </a:solidFill>
                <a:latin typeface="Courier New"/>
                <a:cs typeface="Courier New"/>
              </a:rPr>
              <a:t> </a:t>
            </a:r>
            <a:r>
              <a:rPr sz="1200" b="1" spc="-20" dirty="0">
                <a:solidFill>
                  <a:srgbClr val="F59D0A"/>
                </a:solidFill>
                <a:latin typeface="Courier New"/>
                <a:cs typeface="Courier New"/>
              </a:rPr>
              <a:t>koma </a:t>
            </a:r>
            <a:r>
              <a:rPr sz="1200" b="1" spc="-25" dirty="0">
                <a:solidFill>
                  <a:srgbClr val="F59D0A"/>
                </a:solidFill>
                <a:latin typeface="Courier New"/>
                <a:cs typeface="Courier New"/>
              </a:rPr>
              <a:t>(;)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49" y="647699"/>
            <a:ext cx="2159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Ilustrasi</a:t>
            </a:r>
            <a:r>
              <a:rPr spc="-225" dirty="0"/>
              <a:t> </a:t>
            </a:r>
            <a:r>
              <a:rPr spc="-40" dirty="0">
                <a:solidFill>
                  <a:srgbClr val="E9580C"/>
                </a:solidFill>
              </a:rPr>
              <a:t>Anatomi</a:t>
            </a:r>
            <a:r>
              <a:rPr spc="-225" dirty="0">
                <a:solidFill>
                  <a:srgbClr val="E9580C"/>
                </a:solidFill>
              </a:rPr>
              <a:t> </a:t>
            </a:r>
            <a:r>
              <a:rPr spc="260" dirty="0">
                <a:solidFill>
                  <a:srgbClr val="E9580C"/>
                </a:solidFill>
              </a:rPr>
              <a:t>CSS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455" y="2093975"/>
            <a:ext cx="11012805" cy="4078604"/>
            <a:chOff x="600455" y="2093975"/>
            <a:chExt cx="11012805" cy="407860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" y="2093975"/>
              <a:ext cx="11012423" cy="40782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474" y="2666999"/>
              <a:ext cx="190500" cy="1143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44625" y="2553944"/>
            <a:ext cx="94932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90" dirty="0">
                <a:solidFill>
                  <a:srgbClr val="292524"/>
                </a:solidFill>
                <a:latin typeface="Tahoma"/>
                <a:cs typeface="Tahoma"/>
              </a:rPr>
              <a:t>Struktur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0324" y="3261995"/>
            <a:ext cx="2769235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4ADE80"/>
                </a:solidFill>
                <a:latin typeface="Courier New"/>
                <a:cs typeface="Courier New"/>
              </a:rPr>
              <a:t>selector </a:t>
            </a:r>
            <a:r>
              <a:rPr sz="18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solidFill>
                  <a:srgbClr val="4ADE80"/>
                </a:solidFill>
                <a:latin typeface="Courier New"/>
                <a:cs typeface="Courier New"/>
              </a:rPr>
              <a:t>property: </a:t>
            </a:r>
            <a:r>
              <a:rPr sz="1800" spc="-10" dirty="0">
                <a:solidFill>
                  <a:srgbClr val="4ADE80"/>
                </a:solidFill>
                <a:latin typeface="Courier New"/>
                <a:cs typeface="Courier New"/>
              </a:rPr>
              <a:t>value;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52549" y="2543174"/>
            <a:ext cx="9782175" cy="2524125"/>
            <a:chOff x="1352549" y="2543174"/>
            <a:chExt cx="9782175" cy="252412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2549" y="4800599"/>
              <a:ext cx="133350" cy="190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00812" y="3429011"/>
              <a:ext cx="4533900" cy="1638300"/>
            </a:xfrm>
            <a:custGeom>
              <a:avLst/>
              <a:gdLst/>
              <a:ahLst/>
              <a:cxnLst/>
              <a:rect l="l" t="t" r="r" b="b"/>
              <a:pathLst>
                <a:path w="4533900" h="1638300">
                  <a:moveTo>
                    <a:pt x="4533900" y="1628775"/>
                  </a:moveTo>
                  <a:lnTo>
                    <a:pt x="0" y="1628775"/>
                  </a:lnTo>
                  <a:lnTo>
                    <a:pt x="0" y="1638300"/>
                  </a:lnTo>
                  <a:lnTo>
                    <a:pt x="4533900" y="1638300"/>
                  </a:lnTo>
                  <a:lnTo>
                    <a:pt x="4533900" y="1628775"/>
                  </a:lnTo>
                  <a:close/>
                </a:path>
                <a:path w="4533900" h="1638300">
                  <a:moveTo>
                    <a:pt x="4533900" y="1085850"/>
                  </a:moveTo>
                  <a:lnTo>
                    <a:pt x="0" y="1085850"/>
                  </a:lnTo>
                  <a:lnTo>
                    <a:pt x="0" y="1095375"/>
                  </a:lnTo>
                  <a:lnTo>
                    <a:pt x="4533900" y="1095375"/>
                  </a:lnTo>
                  <a:lnTo>
                    <a:pt x="4533900" y="1085850"/>
                  </a:lnTo>
                  <a:close/>
                </a:path>
                <a:path w="4533900" h="1638300">
                  <a:moveTo>
                    <a:pt x="4533900" y="542925"/>
                  </a:moveTo>
                  <a:lnTo>
                    <a:pt x="0" y="542925"/>
                  </a:lnTo>
                  <a:lnTo>
                    <a:pt x="0" y="552450"/>
                  </a:lnTo>
                  <a:lnTo>
                    <a:pt x="4533900" y="552450"/>
                  </a:lnTo>
                  <a:lnTo>
                    <a:pt x="4533900" y="542925"/>
                  </a:lnTo>
                  <a:close/>
                </a:path>
                <a:path w="4533900" h="1638300">
                  <a:moveTo>
                    <a:pt x="45339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533900" y="9525"/>
                  </a:lnTo>
                  <a:lnTo>
                    <a:pt x="4533900" y="0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9399" y="2543174"/>
              <a:ext cx="180975" cy="1714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97025" y="4778146"/>
            <a:ext cx="1026794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Contoh</a:t>
            </a:r>
            <a:r>
              <a:rPr sz="1250" spc="3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374050"/>
                </a:solidFill>
                <a:latin typeface="Tahoma"/>
                <a:cs typeface="Tahoma"/>
              </a:rPr>
              <a:t>nyata: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2224" y="5054600"/>
            <a:ext cx="19691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9580C"/>
                </a:solidFill>
                <a:latin typeface="Courier New"/>
                <a:cs typeface="Courier New"/>
              </a:rPr>
              <a:t>p { color: red; </a:t>
            </a:r>
            <a:r>
              <a:rPr sz="1500" spc="-50" dirty="0">
                <a:solidFill>
                  <a:srgbClr val="E9580C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31024" y="2458694"/>
            <a:ext cx="122301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5" dirty="0">
                <a:solidFill>
                  <a:srgbClr val="292524"/>
                </a:solidFill>
                <a:latin typeface="Tahoma"/>
                <a:cs typeface="Tahoma"/>
              </a:rPr>
              <a:t>Penjelasan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88124" y="3081477"/>
            <a:ext cx="687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Selector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07575" y="3054350"/>
            <a:ext cx="140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E9580C"/>
                </a:solidFill>
                <a:latin typeface="Courier New"/>
                <a:cs typeface="Courier New"/>
              </a:rPr>
              <a:t>p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88124" y="3624402"/>
            <a:ext cx="725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Property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50375" y="3597275"/>
            <a:ext cx="5975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DB2525"/>
                </a:solidFill>
                <a:latin typeface="Courier New"/>
                <a:cs typeface="Courier New"/>
              </a:rPr>
              <a:t>color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8124" y="4167327"/>
            <a:ext cx="481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Value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78975" y="4140200"/>
            <a:ext cx="368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0FB981"/>
                </a:solidFill>
                <a:latin typeface="Courier New"/>
                <a:cs typeface="Courier New"/>
              </a:rPr>
              <a:t>red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8124" y="4710252"/>
            <a:ext cx="956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Declaration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90187" y="4702175"/>
            <a:ext cx="11576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59D0A"/>
                </a:solidFill>
                <a:latin typeface="Courier New"/>
                <a:cs typeface="Courier New"/>
              </a:rPr>
              <a:t>color:</a:t>
            </a:r>
            <a:r>
              <a:rPr sz="1350" b="1" spc="-50" dirty="0">
                <a:solidFill>
                  <a:srgbClr val="F59D0A"/>
                </a:solidFill>
                <a:latin typeface="Courier New"/>
                <a:cs typeface="Courier New"/>
              </a:rPr>
              <a:t> </a:t>
            </a:r>
            <a:r>
              <a:rPr sz="1350" b="1" spc="-20" dirty="0">
                <a:solidFill>
                  <a:srgbClr val="F59D0A"/>
                </a:solidFill>
                <a:latin typeface="Courier New"/>
                <a:cs typeface="Courier New"/>
              </a:rPr>
              <a:t>red;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88124" y="5253177"/>
            <a:ext cx="14471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Declaration</a:t>
            </a:r>
            <a:r>
              <a:rPr sz="1400" spc="2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A5462"/>
                </a:solidFill>
                <a:latin typeface="Tahoma"/>
                <a:cs typeface="Tahoma"/>
              </a:rPr>
              <a:t>Block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50126" y="5264150"/>
            <a:ext cx="139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A7280"/>
                </a:solidFill>
                <a:latin typeface="Courier New"/>
                <a:cs typeface="Courier New"/>
              </a:rPr>
              <a:t>{</a:t>
            </a:r>
            <a:r>
              <a:rPr sz="1200" spc="-30" dirty="0">
                <a:solidFill>
                  <a:srgbClr val="6A72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6A7280"/>
                </a:solidFill>
                <a:latin typeface="Courier New"/>
                <a:cs typeface="Courier New"/>
              </a:rPr>
              <a:t>color:</a:t>
            </a:r>
            <a:r>
              <a:rPr sz="1200" spc="-25" dirty="0">
                <a:solidFill>
                  <a:srgbClr val="6A72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6A7280"/>
                </a:solidFill>
                <a:latin typeface="Courier New"/>
                <a:cs typeface="Courier New"/>
              </a:rPr>
              <a:t>red;</a:t>
            </a:r>
            <a:r>
              <a:rPr sz="1200" spc="-25" dirty="0">
                <a:solidFill>
                  <a:srgbClr val="6A7280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6A72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204700" cy="7350126"/>
            <a:chOff x="0" y="0"/>
            <a:chExt cx="1156335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8901"/>
              <a:ext cx="11563350" cy="6861809"/>
            </a:xfrm>
            <a:custGeom>
              <a:avLst/>
              <a:gdLst/>
              <a:ahLst/>
              <a:cxnLst/>
              <a:rect l="l" t="t" r="r" b="b"/>
              <a:pathLst>
                <a:path w="11563350" h="6861809">
                  <a:moveTo>
                    <a:pt x="9017" y="0"/>
                  </a:moveTo>
                  <a:lnTo>
                    <a:pt x="0" y="0"/>
                  </a:lnTo>
                  <a:lnTo>
                    <a:pt x="0" y="6479540"/>
                  </a:lnTo>
                  <a:lnTo>
                    <a:pt x="9017" y="6479540"/>
                  </a:lnTo>
                  <a:lnTo>
                    <a:pt x="9017" y="0"/>
                  </a:lnTo>
                  <a:close/>
                </a:path>
                <a:path w="11563350" h="6861809">
                  <a:moveTo>
                    <a:pt x="11562944" y="6488760"/>
                  </a:moveTo>
                  <a:lnTo>
                    <a:pt x="0" y="6488760"/>
                  </a:lnTo>
                  <a:lnTo>
                    <a:pt x="0" y="6861797"/>
                  </a:lnTo>
                  <a:lnTo>
                    <a:pt x="11562944" y="6861797"/>
                  </a:lnTo>
                  <a:lnTo>
                    <a:pt x="11562944" y="6488760"/>
                  </a:lnTo>
                  <a:close/>
                </a:path>
                <a:path w="11563350" h="6861809">
                  <a:moveTo>
                    <a:pt x="11562944" y="127"/>
                  </a:moveTo>
                  <a:lnTo>
                    <a:pt x="11560416" y="127"/>
                  </a:lnTo>
                  <a:lnTo>
                    <a:pt x="11560416" y="6479743"/>
                  </a:lnTo>
                  <a:lnTo>
                    <a:pt x="11562944" y="6479743"/>
                  </a:lnTo>
                  <a:lnTo>
                    <a:pt x="11562944" y="127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24" y="0"/>
              <a:ext cx="11551920" cy="6497955"/>
            </a:xfrm>
            <a:custGeom>
              <a:avLst/>
              <a:gdLst/>
              <a:ahLst/>
              <a:cxnLst/>
              <a:rect l="l" t="t" r="r" b="b"/>
              <a:pathLst>
                <a:path w="11551920" h="6497955">
                  <a:moveTo>
                    <a:pt x="11551393" y="6497658"/>
                  </a:moveTo>
                  <a:lnTo>
                    <a:pt x="0" y="6497658"/>
                  </a:lnTo>
                  <a:lnTo>
                    <a:pt x="0" y="0"/>
                  </a:lnTo>
                  <a:lnTo>
                    <a:pt x="11551393" y="0"/>
                  </a:lnTo>
                  <a:lnTo>
                    <a:pt x="11551393" y="6497658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36" y="627729"/>
              <a:ext cx="206375" cy="2159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97316" y="642173"/>
            <a:ext cx="91440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b="1" spc="-35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00" b="1" spc="5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18286" y="907180"/>
            <a:ext cx="576834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-30" dirty="0"/>
              <a:t>Konsep</a:t>
            </a:r>
            <a:r>
              <a:rPr sz="3550" spc="-240" dirty="0"/>
              <a:t> </a:t>
            </a:r>
            <a:r>
              <a:rPr sz="3550" spc="-10" dirty="0">
                <a:solidFill>
                  <a:srgbClr val="E9580C"/>
                </a:solidFill>
              </a:rPr>
              <a:t>Cascading</a:t>
            </a:r>
            <a:r>
              <a:rPr sz="3550" spc="-260" dirty="0">
                <a:solidFill>
                  <a:srgbClr val="E9580C"/>
                </a:solidFill>
              </a:rPr>
              <a:t> </a:t>
            </a:r>
            <a:r>
              <a:rPr sz="3550" dirty="0"/>
              <a:t>pada</a:t>
            </a:r>
            <a:r>
              <a:rPr sz="3550" spc="-220" dirty="0"/>
              <a:t> </a:t>
            </a:r>
            <a:r>
              <a:rPr sz="3550" spc="245" dirty="0"/>
              <a:t>CSS</a:t>
            </a:r>
            <a:endParaRPr sz="3550"/>
          </a:p>
        </p:txBody>
      </p:sp>
      <p:grpSp>
        <p:nvGrpSpPr>
          <p:cNvPr id="8" name="object 8"/>
          <p:cNvGrpSpPr/>
          <p:nvPr/>
        </p:nvGrpSpPr>
        <p:grpSpPr>
          <a:xfrm>
            <a:off x="568906" y="1660512"/>
            <a:ext cx="10434320" cy="4837430"/>
            <a:chOff x="568906" y="1660512"/>
            <a:chExt cx="10434320" cy="48374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906" y="1660512"/>
              <a:ext cx="10433796" cy="4837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269" y="2878339"/>
              <a:ext cx="165100" cy="1460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68052" y="2789090"/>
            <a:ext cx="166179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-60" dirty="0">
                <a:solidFill>
                  <a:srgbClr val="292524"/>
                </a:solidFill>
                <a:latin typeface="Tahoma"/>
                <a:cs typeface="Tahoma"/>
              </a:rPr>
              <a:t>Sifat</a:t>
            </a:r>
            <a:r>
              <a:rPr sz="1800" b="1" spc="-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292524"/>
                </a:solidFill>
                <a:latin typeface="Tahoma"/>
                <a:cs typeface="Tahoma"/>
              </a:rPr>
              <a:t>"Cascade"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3169" y="3315978"/>
            <a:ext cx="406336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374050"/>
                </a:solidFill>
                <a:latin typeface="Tahoma"/>
                <a:cs typeface="Tahoma"/>
              </a:rPr>
              <a:t>Aturan</a:t>
            </a:r>
            <a:r>
              <a:rPr sz="1350" spc="10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74050"/>
                </a:solidFill>
                <a:latin typeface="Tahoma"/>
                <a:cs typeface="Tahoma"/>
              </a:rPr>
              <a:t>dapat</a:t>
            </a:r>
            <a:r>
              <a:rPr sz="1350" spc="6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E9580C"/>
                </a:solidFill>
                <a:latin typeface="Tahoma"/>
                <a:cs typeface="Tahoma"/>
              </a:rPr>
              <a:t>saling</a:t>
            </a:r>
            <a:r>
              <a:rPr sz="1350" b="1" spc="11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350" b="1" spc="-90" dirty="0">
                <a:solidFill>
                  <a:srgbClr val="E9580C"/>
                </a:solidFill>
                <a:latin typeface="Tahoma"/>
                <a:cs typeface="Tahoma"/>
              </a:rPr>
              <a:t>menimpa</a:t>
            </a:r>
            <a:r>
              <a:rPr sz="1350" b="1" spc="10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74050"/>
                </a:solidFill>
                <a:latin typeface="Tahoma"/>
                <a:cs typeface="Tahoma"/>
              </a:rPr>
              <a:t>berdasarkan</a:t>
            </a:r>
            <a:r>
              <a:rPr sz="1350" spc="10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74050"/>
                </a:solidFill>
                <a:latin typeface="Tahoma"/>
                <a:cs typeface="Tahoma"/>
              </a:rPr>
              <a:t>prioritas.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21256" y="3896281"/>
            <a:ext cx="7173595" cy="323850"/>
            <a:chOff x="1321256" y="3896281"/>
            <a:chExt cx="7173595" cy="3238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1256" y="4064227"/>
              <a:ext cx="155575" cy="1555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2143" y="3896281"/>
              <a:ext cx="222250" cy="2222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48543" y="4030071"/>
            <a:ext cx="76073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80" dirty="0">
                <a:solidFill>
                  <a:srgbClr val="292524"/>
                </a:solidFill>
                <a:latin typeface="Tahoma"/>
                <a:cs typeface="Tahoma"/>
              </a:rPr>
              <a:t>Hasil</a:t>
            </a:r>
            <a:r>
              <a:rPr sz="1200" b="1" spc="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292524"/>
                </a:solidFill>
                <a:latin typeface="Tahoma"/>
                <a:cs typeface="Tahoma"/>
              </a:rPr>
              <a:t>Akhir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5856" y="4337122"/>
            <a:ext cx="3469004" cy="64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0FB981"/>
                </a:solidFill>
                <a:latin typeface="Courier New"/>
                <a:cs typeface="Courier New"/>
              </a:rPr>
              <a:t>color:</a:t>
            </a:r>
            <a:r>
              <a:rPr sz="1700" b="1" spc="-65" dirty="0">
                <a:solidFill>
                  <a:srgbClr val="0FB981"/>
                </a:solidFill>
                <a:latin typeface="Courier New"/>
                <a:cs typeface="Courier New"/>
              </a:rPr>
              <a:t> </a:t>
            </a:r>
            <a:r>
              <a:rPr sz="1700" b="1" spc="-20" dirty="0">
                <a:solidFill>
                  <a:srgbClr val="0FB981"/>
                </a:solidFill>
                <a:latin typeface="Courier New"/>
                <a:cs typeface="Courier New"/>
              </a:rPr>
              <a:t>red;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200" dirty="0">
                <a:solidFill>
                  <a:srgbClr val="4A5462"/>
                </a:solidFill>
                <a:latin typeface="Tahoma"/>
                <a:cs typeface="Tahoma"/>
              </a:rPr>
              <a:t>Aturan</a:t>
            </a:r>
            <a:r>
              <a:rPr sz="120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A5462"/>
                </a:solidFill>
                <a:latin typeface="Tahoma"/>
                <a:cs typeface="Tahoma"/>
              </a:rPr>
              <a:t>terakhir</a:t>
            </a:r>
            <a:r>
              <a:rPr sz="1200" spc="-1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A5462"/>
                </a:solidFill>
                <a:latin typeface="Tahoma"/>
                <a:cs typeface="Tahoma"/>
              </a:rPr>
              <a:t>akan</a:t>
            </a:r>
            <a:r>
              <a:rPr sz="120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A5462"/>
                </a:solidFill>
                <a:latin typeface="Tahoma"/>
                <a:cs typeface="Tahoma"/>
              </a:rPr>
              <a:t>menimpa</a:t>
            </a:r>
            <a:r>
              <a:rPr sz="120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A5462"/>
                </a:solidFill>
                <a:latin typeface="Tahoma"/>
                <a:cs typeface="Tahoma"/>
              </a:rPr>
              <a:t>aturan</a:t>
            </a:r>
            <a:r>
              <a:rPr sz="120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Tahoma"/>
                <a:cs typeface="Tahoma"/>
              </a:rPr>
              <a:t>sebelumnya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77395" y="1972695"/>
            <a:ext cx="643255" cy="76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5" dirty="0">
                <a:solidFill>
                  <a:srgbClr val="4A5462"/>
                </a:solidFill>
                <a:latin typeface="Trebuchet MS"/>
                <a:cs typeface="Trebuchet MS"/>
              </a:rPr>
              <a:t>Aturan</a:t>
            </a:r>
            <a:r>
              <a:rPr sz="1000" b="1" spc="5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000" b="1" spc="45" dirty="0">
                <a:solidFill>
                  <a:srgbClr val="4A5462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000">
              <a:latin typeface="Trebuchet MS"/>
              <a:cs typeface="Trebuchet MS"/>
            </a:endParaRPr>
          </a:p>
          <a:p>
            <a:pPr marL="84455">
              <a:lnSpc>
                <a:spcPct val="100000"/>
              </a:lnSpc>
            </a:pPr>
            <a:r>
              <a:rPr sz="1400" dirty="0">
                <a:solidFill>
                  <a:srgbClr val="4ADE80"/>
                </a:solidFill>
                <a:latin typeface="Courier New"/>
                <a:cs typeface="Courier New"/>
              </a:rPr>
              <a:t>p</a:t>
            </a:r>
            <a:r>
              <a:rPr sz="1400" spc="1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2839" y="2748805"/>
            <a:ext cx="132524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dirty="0">
                <a:solidFill>
                  <a:srgbClr val="4ADE80"/>
                </a:solidFill>
                <a:latin typeface="Courier New"/>
                <a:cs typeface="Courier New"/>
              </a:rPr>
              <a:t>color:</a:t>
            </a:r>
            <a:r>
              <a:rPr sz="1400" spc="6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ADE80"/>
                </a:solidFill>
                <a:latin typeface="Courier New"/>
                <a:cs typeface="Courier New"/>
              </a:rPr>
              <a:t>blue;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9591" y="3001491"/>
            <a:ext cx="13398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7395" y="4571759"/>
            <a:ext cx="64325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5" dirty="0">
                <a:solidFill>
                  <a:srgbClr val="DB2525"/>
                </a:solidFill>
                <a:latin typeface="Trebuchet MS"/>
                <a:cs typeface="Trebuchet MS"/>
              </a:rPr>
              <a:t>Aturan</a:t>
            </a:r>
            <a:r>
              <a:rPr sz="1000" b="1" spc="50" dirty="0">
                <a:solidFill>
                  <a:srgbClr val="DB2525"/>
                </a:solidFill>
                <a:latin typeface="Trebuchet MS"/>
                <a:cs typeface="Trebuchet MS"/>
              </a:rPr>
              <a:t> </a:t>
            </a:r>
            <a:r>
              <a:rPr sz="1000" b="1" spc="45" dirty="0">
                <a:solidFill>
                  <a:srgbClr val="DB2525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49591" y="5059083"/>
            <a:ext cx="1650364" cy="7835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dirty="0">
                <a:solidFill>
                  <a:srgbClr val="4ADE80"/>
                </a:solidFill>
                <a:latin typeface="Courier New"/>
                <a:cs typeface="Courier New"/>
              </a:rPr>
              <a:t>p</a:t>
            </a:r>
            <a:r>
              <a:rPr sz="1400" spc="1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45770">
              <a:lnSpc>
                <a:spcPct val="100000"/>
              </a:lnSpc>
              <a:spcBef>
                <a:spcPts val="310"/>
              </a:spcBef>
            </a:pPr>
            <a:r>
              <a:rPr sz="1400" dirty="0">
                <a:solidFill>
                  <a:srgbClr val="4ADE80"/>
                </a:solidFill>
                <a:latin typeface="Courier New"/>
                <a:cs typeface="Courier New"/>
              </a:rPr>
              <a:t>color:</a:t>
            </a:r>
            <a:r>
              <a:rPr sz="1400" spc="6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4ADE80"/>
                </a:solidFill>
                <a:latin typeface="Courier New"/>
                <a:cs typeface="Courier New"/>
              </a:rPr>
              <a:t>red;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40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695324"/>
            <a:ext cx="171450" cy="1714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Specificity</a:t>
            </a:r>
            <a:r>
              <a:rPr spc="-265" dirty="0"/>
              <a:t> </a:t>
            </a:r>
            <a:r>
              <a:rPr spc="-10" dirty="0"/>
              <a:t>pada</a:t>
            </a:r>
            <a:r>
              <a:rPr spc="-210" dirty="0"/>
              <a:t> </a:t>
            </a:r>
            <a:r>
              <a:rPr spc="260" dirty="0">
                <a:solidFill>
                  <a:srgbClr val="E9580C"/>
                </a:solidFill>
              </a:rPr>
              <a:t>CSS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455" y="1819655"/>
            <a:ext cx="11012805" cy="4630420"/>
            <a:chOff x="600455" y="1819655"/>
            <a:chExt cx="11012805" cy="4630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" y="1819655"/>
              <a:ext cx="11012423" cy="46299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6499" y="2266949"/>
              <a:ext cx="44450" cy="1714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1724" y="2182469"/>
            <a:ext cx="9839960" cy="1076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14"/>
              </a:spcBef>
            </a:pPr>
            <a:r>
              <a:rPr sz="1900" b="1" spc="-95" dirty="0">
                <a:solidFill>
                  <a:srgbClr val="292524"/>
                </a:solidFill>
                <a:latin typeface="Tahoma"/>
                <a:cs typeface="Tahoma"/>
              </a:rPr>
              <a:t>Tingkat</a:t>
            </a:r>
            <a:r>
              <a:rPr sz="1900" b="1" spc="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0" dirty="0">
                <a:solidFill>
                  <a:srgbClr val="292524"/>
                </a:solidFill>
                <a:latin typeface="Tahoma"/>
                <a:cs typeface="Tahoma"/>
              </a:rPr>
              <a:t>Prioritas</a:t>
            </a:r>
            <a:r>
              <a:rPr sz="1900" b="1" spc="-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1625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Specificity</a:t>
            </a:r>
            <a:r>
              <a:rPr sz="1400" spc="1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adalah</a:t>
            </a:r>
            <a:r>
              <a:rPr sz="1400" spc="1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tingkat</a:t>
            </a:r>
            <a:r>
              <a:rPr sz="1400" spc="9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prioritas</a:t>
            </a:r>
            <a:r>
              <a:rPr sz="1400" spc="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selector.</a:t>
            </a:r>
            <a:r>
              <a:rPr sz="1400" spc="15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Selector</a:t>
            </a:r>
            <a:r>
              <a:rPr sz="1400" spc="5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dengan</a:t>
            </a:r>
            <a:r>
              <a:rPr sz="1400" spc="13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prioritas</a:t>
            </a:r>
            <a:r>
              <a:rPr sz="1400" spc="8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lebih</a:t>
            </a:r>
            <a:r>
              <a:rPr sz="1400" spc="1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tinggi</a:t>
            </a:r>
            <a:r>
              <a:rPr sz="1400" spc="17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akan</a:t>
            </a:r>
            <a:r>
              <a:rPr sz="1400" spc="1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menimpa</a:t>
            </a:r>
            <a:r>
              <a:rPr sz="1400" spc="12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selector</a:t>
            </a:r>
            <a:r>
              <a:rPr sz="1400" spc="4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dengan</a:t>
            </a:r>
            <a:r>
              <a:rPr sz="1400" spc="1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prioritas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lebih</a:t>
            </a:r>
            <a:r>
              <a:rPr sz="1400" spc="-4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Tahoma"/>
                <a:cs typeface="Tahoma"/>
              </a:rPr>
              <a:t>rendah.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4600" y="4129770"/>
            <a:ext cx="19685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7524" y="3978941"/>
            <a:ext cx="1261110" cy="6292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600" b="1" spc="-160" dirty="0">
                <a:solidFill>
                  <a:srgbClr val="292524"/>
                </a:solidFill>
                <a:latin typeface="Tahoma"/>
                <a:cs typeface="Tahoma"/>
              </a:rPr>
              <a:t>Inline</a:t>
            </a:r>
            <a:r>
              <a:rPr sz="1600" b="1" spc="-25" dirty="0">
                <a:solidFill>
                  <a:srgbClr val="292524"/>
                </a:solidFill>
                <a:latin typeface="Tahoma"/>
                <a:cs typeface="Tahoma"/>
              </a:rPr>
              <a:t> CSS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Prioritas</a:t>
            </a:r>
            <a:r>
              <a:rPr sz="1250" spc="10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tertinggi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2899" y="4129770"/>
            <a:ext cx="19875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35824" y="3978941"/>
            <a:ext cx="1036319" cy="6292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600" b="1" spc="-250" dirty="0">
                <a:solidFill>
                  <a:srgbClr val="292524"/>
                </a:solidFill>
                <a:latin typeface="Tahoma"/>
                <a:cs typeface="Tahoma"/>
              </a:rPr>
              <a:t>ID</a:t>
            </a:r>
            <a:r>
              <a:rPr sz="1600" b="1" spc="-70" dirty="0">
                <a:solidFill>
                  <a:srgbClr val="292524"/>
                </a:solidFill>
                <a:latin typeface="Tahoma"/>
                <a:cs typeface="Tahoma"/>
              </a:rPr>
              <a:t> Selector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#header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4600" y="5425170"/>
            <a:ext cx="19431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7524" y="5274341"/>
            <a:ext cx="1321435" cy="6292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600" b="1" spc="-100" dirty="0">
                <a:solidFill>
                  <a:srgbClr val="292524"/>
                </a:solidFill>
                <a:latin typeface="Tahoma"/>
                <a:cs typeface="Tahoma"/>
              </a:rPr>
              <a:t>Class</a:t>
            </a:r>
            <a:r>
              <a:rPr sz="1600" b="1" spc="-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50" spc="-20" dirty="0">
                <a:solidFill>
                  <a:srgbClr val="4A5462"/>
                </a:solidFill>
                <a:latin typeface="Tahoma"/>
                <a:cs typeface="Tahoma"/>
              </a:rPr>
              <a:t>.box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92899" y="5425170"/>
            <a:ext cx="208279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4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35824" y="5274341"/>
            <a:ext cx="1597660" cy="6292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600" b="1" spc="-110" dirty="0">
                <a:solidFill>
                  <a:srgbClr val="292524"/>
                </a:solidFill>
                <a:latin typeface="Tahoma"/>
                <a:cs typeface="Tahoma"/>
              </a:rPr>
              <a:t>Element</a:t>
            </a:r>
            <a:r>
              <a:rPr sz="1600" b="1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50" spc="-45" dirty="0">
                <a:solidFill>
                  <a:srgbClr val="4A5462"/>
                </a:solidFill>
                <a:latin typeface="Tahoma"/>
                <a:cs typeface="Tahoma"/>
              </a:rPr>
              <a:t>p,</a:t>
            </a:r>
            <a:r>
              <a:rPr sz="1250" spc="-2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145" dirty="0">
                <a:solidFill>
                  <a:srgbClr val="4A5462"/>
                </a:solidFill>
                <a:latin typeface="Tahoma"/>
                <a:cs typeface="Tahoma"/>
              </a:rPr>
              <a:t>h1,</a:t>
            </a:r>
            <a:r>
              <a:rPr sz="1250" spc="-25" dirty="0">
                <a:solidFill>
                  <a:srgbClr val="4A5462"/>
                </a:solidFill>
                <a:latin typeface="Tahoma"/>
                <a:cs typeface="Tahoma"/>
              </a:rPr>
              <a:t> div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204700" cy="7807338"/>
            <a:chOff x="0" y="0"/>
            <a:chExt cx="10268585" cy="6438911"/>
          </a:xfrm>
        </p:grpSpPr>
        <p:sp>
          <p:nvSpPr>
            <p:cNvPr id="3" name="object 3"/>
            <p:cNvSpPr/>
            <p:nvPr/>
          </p:nvSpPr>
          <p:spPr>
            <a:xfrm>
              <a:off x="0" y="7631"/>
              <a:ext cx="10268585" cy="6431280"/>
            </a:xfrm>
            <a:custGeom>
              <a:avLst/>
              <a:gdLst/>
              <a:ahLst/>
              <a:cxnLst/>
              <a:rect l="l" t="t" r="r" b="b"/>
              <a:pathLst>
                <a:path w="10268585" h="6431280">
                  <a:moveTo>
                    <a:pt x="8013" y="0"/>
                  </a:moveTo>
                  <a:lnTo>
                    <a:pt x="0" y="0"/>
                  </a:lnTo>
                  <a:lnTo>
                    <a:pt x="0" y="5754370"/>
                  </a:lnTo>
                  <a:lnTo>
                    <a:pt x="8013" y="5754370"/>
                  </a:lnTo>
                  <a:lnTo>
                    <a:pt x="8013" y="0"/>
                  </a:lnTo>
                  <a:close/>
                </a:path>
                <a:path w="10268585" h="6431280">
                  <a:moveTo>
                    <a:pt x="10268102" y="5762409"/>
                  </a:moveTo>
                  <a:lnTo>
                    <a:pt x="0" y="5762409"/>
                  </a:lnTo>
                  <a:lnTo>
                    <a:pt x="0" y="6431280"/>
                  </a:lnTo>
                  <a:lnTo>
                    <a:pt x="10268102" y="6431280"/>
                  </a:lnTo>
                  <a:lnTo>
                    <a:pt x="10268102" y="5762409"/>
                  </a:lnTo>
                  <a:close/>
                </a:path>
                <a:path w="10268585" h="6431280">
                  <a:moveTo>
                    <a:pt x="10268102" y="393"/>
                  </a:moveTo>
                  <a:lnTo>
                    <a:pt x="10265854" y="393"/>
                  </a:lnTo>
                  <a:lnTo>
                    <a:pt x="10265854" y="5754395"/>
                  </a:lnTo>
                  <a:lnTo>
                    <a:pt x="10268102" y="5754395"/>
                  </a:lnTo>
                  <a:lnTo>
                    <a:pt x="10268102" y="393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13" y="0"/>
              <a:ext cx="10258425" cy="5770245"/>
            </a:xfrm>
            <a:custGeom>
              <a:avLst/>
              <a:gdLst/>
              <a:ahLst/>
              <a:cxnLst/>
              <a:rect l="l" t="t" r="r" b="b"/>
              <a:pathLst>
                <a:path w="10258425" h="5770245">
                  <a:moveTo>
                    <a:pt x="10257844" y="5770037"/>
                  </a:moveTo>
                  <a:lnTo>
                    <a:pt x="0" y="5770037"/>
                  </a:lnTo>
                  <a:lnTo>
                    <a:pt x="0" y="0"/>
                  </a:lnTo>
                  <a:lnTo>
                    <a:pt x="10257844" y="0"/>
                  </a:lnTo>
                  <a:lnTo>
                    <a:pt x="10257844" y="577003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350" y="448351"/>
              <a:ext cx="146050" cy="1460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73014" y="568839"/>
            <a:ext cx="81470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-35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900" b="1" spc="2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90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36429" y="804170"/>
            <a:ext cx="537019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100" dirty="0"/>
              <a:t>Specificity</a:t>
            </a:r>
            <a:r>
              <a:rPr sz="3150" spc="-225" dirty="0"/>
              <a:t> </a:t>
            </a:r>
            <a:r>
              <a:rPr sz="3150" spc="-10" dirty="0"/>
              <a:t>pada</a:t>
            </a:r>
            <a:r>
              <a:rPr sz="3150" spc="-70" dirty="0"/>
              <a:t> </a:t>
            </a:r>
            <a:r>
              <a:rPr sz="3150" spc="229" dirty="0">
                <a:solidFill>
                  <a:srgbClr val="E9580C"/>
                </a:solidFill>
              </a:rPr>
              <a:t>CSS</a:t>
            </a:r>
            <a:r>
              <a:rPr sz="3150" spc="-195" dirty="0">
                <a:solidFill>
                  <a:srgbClr val="E9580C"/>
                </a:solidFill>
              </a:rPr>
              <a:t> </a:t>
            </a:r>
            <a:r>
              <a:rPr sz="3150" dirty="0">
                <a:solidFill>
                  <a:srgbClr val="9CA2AF"/>
                </a:solidFill>
              </a:rPr>
              <a:t>Bagian</a:t>
            </a:r>
            <a:r>
              <a:rPr sz="3150" spc="-75" dirty="0">
                <a:solidFill>
                  <a:srgbClr val="9CA2AF"/>
                </a:solidFill>
              </a:rPr>
              <a:t> </a:t>
            </a:r>
            <a:r>
              <a:rPr sz="3150" spc="-50" dirty="0">
                <a:solidFill>
                  <a:srgbClr val="9CA2AF"/>
                </a:solidFill>
              </a:rPr>
              <a:t>2</a:t>
            </a:r>
            <a:endParaRPr sz="3150"/>
          </a:p>
        </p:txBody>
      </p:sp>
      <p:grpSp>
        <p:nvGrpSpPr>
          <p:cNvPr id="23" name="Grup 22">
            <a:extLst>
              <a:ext uri="{FF2B5EF4-FFF2-40B4-BE49-F238E27FC236}">
                <a16:creationId xmlns:a16="http://schemas.microsoft.com/office/drawing/2014/main" id="{CEABFBFF-912A-0B69-B2E0-40D0D34C53FF}"/>
              </a:ext>
            </a:extLst>
          </p:cNvPr>
          <p:cNvGrpSpPr/>
          <p:nvPr/>
        </p:nvGrpSpPr>
        <p:grpSpPr>
          <a:xfrm>
            <a:off x="505198" y="1410453"/>
            <a:ext cx="10854952" cy="4948558"/>
            <a:chOff x="505198" y="1410453"/>
            <a:chExt cx="9357719" cy="4385271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198" y="1410453"/>
              <a:ext cx="9357719" cy="4359584"/>
            </a:xfrm>
            <a:prstGeom prst="rect">
              <a:avLst/>
            </a:prstGeom>
          </p:spPr>
        </p:pic>
        <p:sp>
          <p:nvSpPr>
            <p:cNvPr id="9" name="object 9"/>
            <p:cNvSpPr txBox="1"/>
            <p:nvPr/>
          </p:nvSpPr>
          <p:spPr>
            <a:xfrm>
              <a:off x="892875" y="1654199"/>
              <a:ext cx="624205" cy="128881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b="1" spc="105" dirty="0">
                  <a:solidFill>
                    <a:srgbClr val="DB2525"/>
                  </a:solidFill>
                  <a:latin typeface="Trebuchet MS"/>
                  <a:cs typeface="Trebuchet MS"/>
                </a:rPr>
                <a:t>ID</a:t>
              </a:r>
              <a:r>
                <a:rPr sz="750" b="1" spc="35" dirty="0">
                  <a:solidFill>
                    <a:srgbClr val="DB2525"/>
                  </a:solidFill>
                  <a:latin typeface="Trebuchet MS"/>
                  <a:cs typeface="Trebuchet MS"/>
                </a:rPr>
                <a:t> </a:t>
              </a:r>
              <a:r>
                <a:rPr sz="750" b="1" spc="65" dirty="0">
                  <a:solidFill>
                    <a:srgbClr val="DB2525"/>
                  </a:solidFill>
                  <a:latin typeface="Trebuchet MS"/>
                  <a:cs typeface="Trebuchet MS"/>
                </a:rPr>
                <a:t>Selector</a:t>
              </a:r>
              <a:endParaRPr sz="750">
                <a:latin typeface="Trebuchet MS"/>
                <a:cs typeface="Trebuchet MS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56986" y="1987579"/>
              <a:ext cx="1323975" cy="699135"/>
            </a:xfrm>
            <a:prstGeom prst="rect">
              <a:avLst/>
            </a:prstGeom>
          </p:spPr>
          <p:txBody>
            <a:bodyPr vert="horz" wrap="square" lIns="0" tIns="685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40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#judul</a:t>
              </a:r>
              <a:r>
                <a:rPr sz="1100" spc="9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50" dirty="0">
                  <a:solidFill>
                    <a:srgbClr val="4ADE80"/>
                  </a:solidFill>
                  <a:latin typeface="Courier New"/>
                  <a:cs typeface="Courier New"/>
                </a:rPr>
                <a:t>{</a:t>
              </a:r>
              <a:endParaRPr sz="1100">
                <a:latin typeface="Courier New"/>
                <a:cs typeface="Courier New"/>
              </a:endParaRPr>
            </a:p>
            <a:p>
              <a:pPr marL="358775">
                <a:lnSpc>
                  <a:spcPct val="100000"/>
                </a:lnSpc>
                <a:spcBef>
                  <a:spcPts val="445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color:</a:t>
              </a:r>
              <a:r>
                <a:rPr sz="1100" spc="9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20" dirty="0">
                  <a:solidFill>
                    <a:srgbClr val="4ADE80"/>
                  </a:solidFill>
                  <a:latin typeface="Courier New"/>
                  <a:cs typeface="Courier New"/>
                </a:rPr>
                <a:t>red;</a:t>
              </a:r>
              <a:endParaRPr sz="110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445"/>
                </a:spcBef>
              </a:pPr>
              <a:r>
                <a:rPr sz="1100" spc="-50" dirty="0">
                  <a:solidFill>
                    <a:srgbClr val="4ADE80"/>
                  </a:solidFill>
                  <a:latin typeface="Courier New"/>
                  <a:cs typeface="Courier New"/>
                </a:rPr>
                <a:t>}</a:t>
              </a:r>
              <a:endParaRPr sz="1100">
                <a:latin typeface="Courier New"/>
                <a:cs typeface="Courier New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892875" y="3321099"/>
              <a:ext cx="791210" cy="128881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b="1" spc="95" dirty="0">
                  <a:solidFill>
                    <a:srgbClr val="F59D0A"/>
                  </a:solidFill>
                  <a:latin typeface="Trebuchet MS"/>
                  <a:cs typeface="Trebuchet MS"/>
                </a:rPr>
                <a:t>Class</a:t>
              </a:r>
              <a:r>
                <a:rPr sz="750" b="1" spc="45" dirty="0">
                  <a:solidFill>
                    <a:srgbClr val="F59D0A"/>
                  </a:solidFill>
                  <a:latin typeface="Trebuchet MS"/>
                  <a:cs typeface="Trebuchet MS"/>
                </a:rPr>
                <a:t> </a:t>
              </a:r>
              <a:r>
                <a:rPr sz="750" b="1" spc="65" dirty="0">
                  <a:solidFill>
                    <a:srgbClr val="F59D0A"/>
                  </a:solidFill>
                  <a:latin typeface="Trebuchet MS"/>
                  <a:cs typeface="Trebuchet MS"/>
                </a:rPr>
                <a:t>Selector</a:t>
              </a:r>
              <a:endParaRPr sz="750">
                <a:latin typeface="Trebuchet MS"/>
                <a:cs typeface="Trebuchet MS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956986" y="3654479"/>
              <a:ext cx="1410970" cy="699135"/>
            </a:xfrm>
            <a:prstGeom prst="rect">
              <a:avLst/>
            </a:prstGeom>
          </p:spPr>
          <p:txBody>
            <a:bodyPr vert="horz" wrap="square" lIns="0" tIns="685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40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.judul</a:t>
              </a:r>
              <a:r>
                <a:rPr sz="1100" spc="9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50" dirty="0">
                  <a:solidFill>
                    <a:srgbClr val="4ADE80"/>
                  </a:solidFill>
                  <a:latin typeface="Courier New"/>
                  <a:cs typeface="Courier New"/>
                </a:rPr>
                <a:t>{</a:t>
              </a:r>
              <a:endParaRPr sz="1100">
                <a:latin typeface="Courier New"/>
                <a:cs typeface="Courier New"/>
              </a:endParaRPr>
            </a:p>
            <a:p>
              <a:pPr marL="358775">
                <a:lnSpc>
                  <a:spcPct val="100000"/>
                </a:lnSpc>
                <a:spcBef>
                  <a:spcPts val="445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color:</a:t>
              </a:r>
              <a:r>
                <a:rPr sz="1100" spc="9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10" dirty="0">
                  <a:solidFill>
                    <a:srgbClr val="4ADE80"/>
                  </a:solidFill>
                  <a:latin typeface="Courier New"/>
                  <a:cs typeface="Courier New"/>
                </a:rPr>
                <a:t>blue;</a:t>
              </a:r>
              <a:endParaRPr sz="110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445"/>
                </a:spcBef>
              </a:pPr>
              <a:r>
                <a:rPr sz="1100" spc="-50" dirty="0">
                  <a:solidFill>
                    <a:srgbClr val="4ADE80"/>
                  </a:solidFill>
                  <a:latin typeface="Courier New"/>
                  <a:cs typeface="Courier New"/>
                </a:rPr>
                <a:t>}</a:t>
              </a:r>
              <a:endParaRPr sz="1100">
                <a:latin typeface="Courier New"/>
                <a:cs typeface="Courier New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92875" y="4987999"/>
              <a:ext cx="951865" cy="128881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b="1" spc="85" dirty="0">
                  <a:solidFill>
                    <a:srgbClr val="0FB981"/>
                  </a:solidFill>
                  <a:latin typeface="Trebuchet MS"/>
                  <a:cs typeface="Trebuchet MS"/>
                </a:rPr>
                <a:t>Element</a:t>
              </a:r>
              <a:r>
                <a:rPr sz="750" b="1" spc="45" dirty="0">
                  <a:solidFill>
                    <a:srgbClr val="0FB981"/>
                  </a:solidFill>
                  <a:latin typeface="Trebuchet MS"/>
                  <a:cs typeface="Trebuchet MS"/>
                </a:rPr>
                <a:t> </a:t>
              </a:r>
              <a:r>
                <a:rPr sz="750" b="1" spc="65" dirty="0">
                  <a:solidFill>
                    <a:srgbClr val="0FB981"/>
                  </a:solidFill>
                  <a:latin typeface="Trebuchet MS"/>
                  <a:cs typeface="Trebuchet MS"/>
                </a:rPr>
                <a:t>Selector</a:t>
              </a:r>
              <a:endParaRPr sz="750">
                <a:latin typeface="Trebuchet MS"/>
                <a:cs typeface="Trebuchet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956986" y="5321379"/>
              <a:ext cx="1497330" cy="474345"/>
            </a:xfrm>
            <a:prstGeom prst="rect">
              <a:avLst/>
            </a:prstGeom>
          </p:spPr>
          <p:txBody>
            <a:bodyPr vert="horz" wrap="square" lIns="0" tIns="685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40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h1</a:t>
              </a:r>
              <a:r>
                <a:rPr sz="1100" spc="4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50" dirty="0">
                  <a:solidFill>
                    <a:srgbClr val="4ADE80"/>
                  </a:solidFill>
                  <a:latin typeface="Courier New"/>
                  <a:cs typeface="Courier New"/>
                </a:rPr>
                <a:t>{</a:t>
              </a:r>
              <a:endParaRPr sz="1100">
                <a:latin typeface="Courier New"/>
                <a:cs typeface="Courier New"/>
              </a:endParaRPr>
            </a:p>
            <a:p>
              <a:pPr marL="358775">
                <a:lnSpc>
                  <a:spcPct val="100000"/>
                </a:lnSpc>
                <a:spcBef>
                  <a:spcPts val="445"/>
                </a:spcBef>
              </a:pPr>
              <a:r>
                <a:rPr sz="1100" dirty="0">
                  <a:solidFill>
                    <a:srgbClr val="4ADE80"/>
                  </a:solidFill>
                  <a:latin typeface="Courier New"/>
                  <a:cs typeface="Courier New"/>
                </a:rPr>
                <a:t>color:</a:t>
              </a:r>
              <a:r>
                <a:rPr sz="1100" spc="9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100" spc="-10" dirty="0">
                  <a:solidFill>
                    <a:srgbClr val="4ADE80"/>
                  </a:solidFill>
                  <a:latin typeface="Courier New"/>
                  <a:cs typeface="Courier New"/>
                </a:rPr>
                <a:t>green;</a:t>
              </a:r>
              <a:endParaRPr sz="1100">
                <a:latin typeface="Courier New"/>
                <a:cs typeface="Courier New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4595091" y="2450467"/>
              <a:ext cx="1369695" cy="1717039"/>
              <a:chOff x="4595091" y="2450467"/>
              <a:chExt cx="1369695" cy="1717039"/>
            </a:xfrm>
          </p:grpSpPr>
          <p:pic>
            <p:nvPicPr>
              <p:cNvPr id="16" name="object 1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595091" y="2450467"/>
                <a:ext cx="161925" cy="98425"/>
              </a:xfrm>
              <a:prstGeom prst="rect">
                <a:avLst/>
              </a:prstGeom>
            </p:spPr>
          </p:pic>
          <p:pic>
            <p:nvPicPr>
              <p:cNvPr id="17" name="object 17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694665" y="3910227"/>
                <a:ext cx="269875" cy="257175"/>
              </a:xfrm>
              <a:prstGeom prst="rect">
                <a:avLst/>
              </a:prstGeom>
            </p:spPr>
          </p:pic>
        </p:grpSp>
        <p:sp>
          <p:nvSpPr>
            <p:cNvPr id="18" name="object 18"/>
            <p:cNvSpPr txBox="1"/>
            <p:nvPr/>
          </p:nvSpPr>
          <p:spPr>
            <a:xfrm>
              <a:off x="4822962" y="2380086"/>
              <a:ext cx="463550" cy="209673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250" b="1" spc="-20" dirty="0">
                  <a:solidFill>
                    <a:srgbClr val="292524"/>
                  </a:solidFill>
                  <a:latin typeface="Tahoma"/>
                  <a:cs typeface="Tahoma"/>
                </a:rPr>
                <a:t>HTML</a:t>
              </a:r>
              <a:endParaRPr sz="1250"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726794" y="2848277"/>
              <a:ext cx="4526915" cy="245580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1500" dirty="0">
                  <a:solidFill>
                    <a:srgbClr val="4ADE80"/>
                  </a:solidFill>
                  <a:latin typeface="Courier New"/>
                  <a:cs typeface="Courier New"/>
                </a:rPr>
                <a:t>&lt;h1</a:t>
              </a:r>
              <a:r>
                <a:rPr sz="1500" spc="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500" dirty="0">
                  <a:solidFill>
                    <a:srgbClr val="4ADE80"/>
                  </a:solidFill>
                  <a:latin typeface="Courier New"/>
                  <a:cs typeface="Courier New"/>
                </a:rPr>
                <a:t>id="judul"</a:t>
              </a:r>
              <a:r>
                <a:rPr sz="1500" spc="5" dirty="0">
                  <a:solidFill>
                    <a:srgbClr val="4ADE80"/>
                  </a:solidFill>
                  <a:latin typeface="Courier New"/>
                  <a:cs typeface="Courier New"/>
                </a:rPr>
                <a:t> </a:t>
              </a:r>
              <a:r>
                <a:rPr sz="1500" spc="-10" dirty="0">
                  <a:solidFill>
                    <a:srgbClr val="4ADE80"/>
                  </a:solidFill>
                  <a:latin typeface="Courier New"/>
                  <a:cs typeface="Courier New"/>
                </a:rPr>
                <a:t>class="judul"&gt;Hello&lt;/h1&gt;</a:t>
              </a:r>
              <a:endParaRPr sz="1500">
                <a:latin typeface="Courier New"/>
                <a:cs typeface="Courier New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057108" y="3847671"/>
              <a:ext cx="2240915" cy="3263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950" b="1" dirty="0">
                  <a:solidFill>
                    <a:srgbClr val="FFFFFF"/>
                  </a:solidFill>
                  <a:latin typeface="Trebuchet MS"/>
                  <a:cs typeface="Trebuchet MS"/>
                </a:rPr>
                <a:t>Warna</a:t>
              </a:r>
              <a:r>
                <a:rPr sz="1950" b="1" spc="-20" dirty="0">
                  <a:solidFill>
                    <a:srgbClr val="FFFFFF"/>
                  </a:solidFill>
                  <a:latin typeface="Trebuchet MS"/>
                  <a:cs typeface="Trebuchet MS"/>
                </a:rPr>
                <a:t> </a:t>
              </a:r>
              <a:r>
                <a:rPr sz="1950" b="1" dirty="0">
                  <a:solidFill>
                    <a:srgbClr val="FFFFFF"/>
                  </a:solidFill>
                  <a:latin typeface="Trebuchet MS"/>
                  <a:cs typeface="Trebuchet MS"/>
                </a:rPr>
                <a:t>yang</a:t>
              </a:r>
              <a:r>
                <a:rPr sz="1950" b="1" spc="-25" dirty="0">
                  <a:solidFill>
                    <a:srgbClr val="FFFFFF"/>
                  </a:solidFill>
                  <a:latin typeface="Trebuchet MS"/>
                  <a:cs typeface="Trebuchet MS"/>
                </a:rPr>
                <a:t> </a:t>
              </a:r>
              <a:r>
                <a:rPr sz="1950" b="1" spc="-40" dirty="0">
                  <a:solidFill>
                    <a:srgbClr val="FFFFFF"/>
                  </a:solidFill>
                  <a:latin typeface="Trebuchet MS"/>
                  <a:cs typeface="Trebuchet MS"/>
                </a:rPr>
                <a:t>dipakai</a:t>
              </a:r>
              <a:endParaRPr sz="1950">
                <a:latin typeface="Trebuchet MS"/>
                <a:cs typeface="Trebuchet MS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6544206" y="4451065"/>
              <a:ext cx="891540" cy="37211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250" b="1" spc="-10" dirty="0">
                  <a:solidFill>
                    <a:srgbClr val="FFFFFF"/>
                  </a:solidFill>
                  <a:latin typeface="Courier New"/>
                  <a:cs typeface="Courier New"/>
                </a:rPr>
                <a:t>MERAH</a:t>
              </a:r>
              <a:endParaRPr sz="2250">
                <a:latin typeface="Courier New"/>
                <a:cs typeface="Courier New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915612" y="5155074"/>
              <a:ext cx="2141220" cy="198131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200" spc="-75" dirty="0">
                  <a:solidFill>
                    <a:srgbClr val="FFFFFF"/>
                  </a:solidFill>
                  <a:latin typeface="Tahoma"/>
                  <a:cs typeface="Tahoma"/>
                </a:rPr>
                <a:t>ID</a:t>
              </a:r>
              <a:r>
                <a:rPr sz="1200" spc="-80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dirty="0">
                  <a:solidFill>
                    <a:srgbClr val="FFFFFF"/>
                  </a:solidFill>
                  <a:latin typeface="Tahoma"/>
                  <a:cs typeface="Tahoma"/>
                </a:rPr>
                <a:t>memiliki</a:t>
              </a:r>
              <a:r>
                <a:rPr sz="1200" spc="-10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dirty="0">
                  <a:solidFill>
                    <a:srgbClr val="FFFFFF"/>
                  </a:solidFill>
                  <a:latin typeface="Tahoma"/>
                  <a:cs typeface="Tahoma"/>
                </a:rPr>
                <a:t>prioritas</a:t>
              </a:r>
              <a:r>
                <a:rPr sz="1200" spc="-60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dirty="0">
                  <a:solidFill>
                    <a:srgbClr val="FFFFFF"/>
                  </a:solidFill>
                  <a:latin typeface="Tahoma"/>
                  <a:cs typeface="Tahoma"/>
                </a:rPr>
                <a:t>lebih</a:t>
              </a:r>
              <a:r>
                <a:rPr sz="1200" spc="-35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spc="-10" dirty="0">
                  <a:solidFill>
                    <a:srgbClr val="FFFFFF"/>
                  </a:solidFill>
                  <a:latin typeface="Tahoma"/>
                  <a:cs typeface="Tahoma"/>
                </a:rPr>
                <a:t>tinggi</a:t>
              </a:r>
              <a:endParaRPr sz="1200">
                <a:latin typeface="Tahoma"/>
                <a:cs typeface="Tahom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9" y="660399"/>
            <a:ext cx="2413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65" dirty="0"/>
              <a:t>Komentar</a:t>
            </a:r>
            <a:r>
              <a:rPr sz="3700" spc="-254" dirty="0"/>
              <a:t> </a:t>
            </a:r>
            <a:r>
              <a:rPr sz="3700" dirty="0"/>
              <a:t>pada</a:t>
            </a:r>
            <a:r>
              <a:rPr sz="3700" spc="-145" dirty="0"/>
              <a:t> </a:t>
            </a:r>
            <a:r>
              <a:rPr sz="3700" spc="290" dirty="0">
                <a:solidFill>
                  <a:srgbClr val="E9580C"/>
                </a:solidFill>
              </a:rPr>
              <a:t>CSS</a:t>
            </a:r>
            <a:endParaRPr sz="3700"/>
          </a:p>
        </p:txBody>
      </p:sp>
      <p:grpSp>
        <p:nvGrpSpPr>
          <p:cNvPr id="5" name="object 5"/>
          <p:cNvGrpSpPr/>
          <p:nvPr/>
        </p:nvGrpSpPr>
        <p:grpSpPr>
          <a:xfrm>
            <a:off x="600455" y="1874519"/>
            <a:ext cx="11012805" cy="4517390"/>
            <a:chOff x="600455" y="1874519"/>
            <a:chExt cx="11012805" cy="45173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" y="1874519"/>
              <a:ext cx="11012423" cy="45171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474" y="3044824"/>
              <a:ext cx="190500" cy="1587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1724" y="2953994"/>
            <a:ext cx="4276090" cy="800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14"/>
              </a:spcBef>
            </a:pPr>
            <a:r>
              <a:rPr sz="1900" b="1" spc="-145" dirty="0">
                <a:solidFill>
                  <a:srgbClr val="292524"/>
                </a:solidFill>
                <a:latin typeface="Tahoma"/>
                <a:cs typeface="Tahoma"/>
              </a:rPr>
              <a:t>Fungsi</a:t>
            </a:r>
            <a:r>
              <a:rPr sz="1900" b="1" spc="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Komentar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Digunakan</a:t>
            </a:r>
            <a:r>
              <a:rPr sz="1400" spc="2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untuk</a:t>
            </a:r>
            <a:r>
              <a:rPr sz="1400" spc="-2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E9580C"/>
                </a:solidFill>
                <a:latin typeface="Tahoma"/>
                <a:cs typeface="Tahoma"/>
              </a:rPr>
              <a:t>memberi</a:t>
            </a:r>
            <a:r>
              <a:rPr sz="1400" b="1" spc="8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E9580C"/>
                </a:solidFill>
                <a:latin typeface="Tahoma"/>
                <a:cs typeface="Tahoma"/>
              </a:rPr>
              <a:t>catatan</a:t>
            </a:r>
            <a:r>
              <a:rPr sz="1400" b="1" spc="4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374050"/>
                </a:solidFill>
                <a:latin typeface="Tahoma"/>
                <a:cs typeface="Tahoma"/>
              </a:rPr>
              <a:t>dalam</a:t>
            </a:r>
            <a:r>
              <a:rPr sz="1400" spc="-2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4050"/>
                </a:solidFill>
                <a:latin typeface="Tahoma"/>
                <a:cs typeface="Tahoma"/>
              </a:rPr>
              <a:t>kode</a:t>
            </a:r>
            <a:r>
              <a:rPr sz="1400" spc="-20" dirty="0">
                <a:solidFill>
                  <a:srgbClr val="374050"/>
                </a:solidFill>
                <a:latin typeface="Tahoma"/>
                <a:cs typeface="Tahoma"/>
              </a:rPr>
              <a:t> CSS.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6999" y="4302125"/>
            <a:ext cx="158750" cy="1587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68425" y="4263796"/>
            <a:ext cx="3231515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25"/>
              </a:spcBef>
            </a:pPr>
            <a:r>
              <a:rPr sz="1250" b="1" spc="-10" dirty="0">
                <a:solidFill>
                  <a:srgbClr val="292524"/>
                </a:solidFill>
                <a:latin typeface="Tahoma"/>
                <a:cs typeface="Tahoma"/>
              </a:rPr>
              <a:t>Penting!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Komentar</a:t>
            </a:r>
            <a:r>
              <a:rPr sz="1250" spc="5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tidak</a:t>
            </a:r>
            <a:r>
              <a:rPr sz="1250" spc="7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akan</a:t>
            </a:r>
            <a:r>
              <a:rPr sz="1250" spc="130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ditampilkan</a:t>
            </a:r>
            <a:r>
              <a:rPr sz="1250" spc="13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374050"/>
                </a:solidFill>
                <a:latin typeface="Tahoma"/>
                <a:cs typeface="Tahoma"/>
              </a:rPr>
              <a:t>di</a:t>
            </a:r>
            <a:r>
              <a:rPr sz="1250" spc="165" dirty="0">
                <a:solidFill>
                  <a:srgbClr val="374050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374050"/>
                </a:solidFill>
                <a:latin typeface="Tahoma"/>
                <a:cs typeface="Tahoma"/>
              </a:rPr>
              <a:t>browser.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9875" y="2352674"/>
            <a:ext cx="190500" cy="1143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816725" y="2239619"/>
            <a:ext cx="3043555" cy="1038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4"/>
              </a:spcBef>
            </a:pPr>
            <a:r>
              <a:rPr sz="1900" b="1" spc="-114" dirty="0">
                <a:solidFill>
                  <a:srgbClr val="292524"/>
                </a:solidFill>
                <a:latin typeface="Tahoma"/>
                <a:cs typeface="Tahoma"/>
              </a:rPr>
              <a:t>Sintaks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 Komentar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ADE80"/>
                </a:solidFill>
                <a:latin typeface="Courier New"/>
                <a:cs typeface="Courier New"/>
              </a:rPr>
              <a:t>/* Ini komentar CSS </a:t>
            </a:r>
            <a:r>
              <a:rPr sz="1800" spc="-25" dirty="0">
                <a:solidFill>
                  <a:srgbClr val="4ADE80"/>
                </a:solidFill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8150" y="3994150"/>
            <a:ext cx="101600" cy="1460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902450" y="3949471"/>
            <a:ext cx="3112135" cy="1508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sz="1250" b="1" spc="-7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r>
              <a:rPr sz="1250" b="1" spc="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292524"/>
                </a:solidFill>
                <a:latin typeface="Tahoma"/>
                <a:cs typeface="Tahoma"/>
              </a:rPr>
              <a:t>Penggunaan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latin typeface="Courier New"/>
                <a:cs typeface="Courier New"/>
              </a:rPr>
              <a:t>/*</a:t>
            </a:r>
            <a:r>
              <a:rPr sz="1350" spc="-50" dirty="0">
                <a:latin typeface="Courier New"/>
                <a:cs typeface="Courier New"/>
              </a:rPr>
              <a:t> </a:t>
            </a:r>
            <a:r>
              <a:rPr sz="1350" dirty="0">
                <a:latin typeface="Courier New"/>
                <a:cs typeface="Courier New"/>
              </a:rPr>
              <a:t>Mengatur</a:t>
            </a:r>
            <a:r>
              <a:rPr sz="1350" spc="-50" dirty="0">
                <a:latin typeface="Courier New"/>
                <a:cs typeface="Courier New"/>
              </a:rPr>
              <a:t> </a:t>
            </a:r>
            <a:r>
              <a:rPr sz="1350" dirty="0">
                <a:latin typeface="Courier New"/>
                <a:cs typeface="Courier New"/>
              </a:rPr>
              <a:t>tampilan</a:t>
            </a:r>
            <a:r>
              <a:rPr sz="1350" spc="-50" dirty="0">
                <a:latin typeface="Courier New"/>
                <a:cs typeface="Courier New"/>
              </a:rPr>
              <a:t> </a:t>
            </a:r>
            <a:r>
              <a:rPr sz="1350" dirty="0">
                <a:latin typeface="Courier New"/>
                <a:cs typeface="Courier New"/>
              </a:rPr>
              <a:t>tombol</a:t>
            </a:r>
            <a:r>
              <a:rPr sz="1350" spc="-45" dirty="0">
                <a:latin typeface="Courier New"/>
                <a:cs typeface="Courier New"/>
              </a:rPr>
              <a:t> </a:t>
            </a:r>
            <a:r>
              <a:rPr sz="1350" spc="-25" dirty="0"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latin typeface="Courier New"/>
                <a:cs typeface="Courier New"/>
              </a:rPr>
              <a:t>.button</a:t>
            </a:r>
            <a:r>
              <a:rPr sz="1350" spc="-60" dirty="0">
                <a:latin typeface="Courier New"/>
                <a:cs typeface="Courier New"/>
              </a:rPr>
              <a:t> </a:t>
            </a:r>
            <a:r>
              <a:rPr sz="1350" spc="-50" dirty="0"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  <a:spcBef>
                <a:spcPts val="480"/>
              </a:spcBef>
            </a:pPr>
            <a:r>
              <a:rPr sz="1350" spc="-10" dirty="0">
                <a:latin typeface="Courier New"/>
                <a:cs typeface="Courier New"/>
              </a:rPr>
              <a:t>background-</a:t>
            </a:r>
            <a:r>
              <a:rPr sz="1350" dirty="0">
                <a:latin typeface="Courier New"/>
                <a:cs typeface="Courier New"/>
              </a:rPr>
              <a:t>color:</a:t>
            </a:r>
            <a:r>
              <a:rPr sz="1350" spc="-30" dirty="0">
                <a:latin typeface="Courier New"/>
                <a:cs typeface="Courier New"/>
              </a:rPr>
              <a:t> </a:t>
            </a:r>
            <a:r>
              <a:rPr sz="1350" spc="-10" dirty="0">
                <a:latin typeface="Courier New"/>
                <a:cs typeface="Courier New"/>
              </a:rPr>
              <a:t>blue;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49" y="647699"/>
            <a:ext cx="2159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Contoh</a:t>
            </a:r>
            <a:r>
              <a:rPr spc="-204" dirty="0"/>
              <a:t> </a:t>
            </a:r>
            <a:r>
              <a:rPr spc="-40" dirty="0"/>
              <a:t>Anatomi</a:t>
            </a:r>
            <a:r>
              <a:rPr spc="-150" dirty="0"/>
              <a:t> </a:t>
            </a:r>
            <a:r>
              <a:rPr spc="285" dirty="0">
                <a:solidFill>
                  <a:srgbClr val="E9580C"/>
                </a:solidFill>
              </a:rPr>
              <a:t>CSS</a:t>
            </a:r>
            <a:r>
              <a:rPr spc="-285" dirty="0">
                <a:solidFill>
                  <a:srgbClr val="E9580C"/>
                </a:solidFill>
              </a:rPr>
              <a:t> </a:t>
            </a:r>
            <a:r>
              <a:rPr spc="-10" dirty="0"/>
              <a:t>Lengkap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455" y="2322575"/>
            <a:ext cx="11012805" cy="3545204"/>
            <a:chOff x="600455" y="2322575"/>
            <a:chExt cx="11012805" cy="354520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" y="2322575"/>
              <a:ext cx="11012423" cy="35448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099" y="2714624"/>
              <a:ext cx="158750" cy="952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92225" y="2613532"/>
            <a:ext cx="899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600" b="1" spc="-4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600" b="1" spc="-10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6024" y="3155315"/>
            <a:ext cx="3112135" cy="19685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/*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Mengatur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tampilan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tombol</a:t>
            </a:r>
            <a:r>
              <a:rPr sz="135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ADE8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.button</a:t>
            </a:r>
            <a:r>
              <a:rPr sz="1350" spc="-6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424180" marR="313690">
              <a:lnSpc>
                <a:spcPct val="134300"/>
              </a:lnSpc>
            </a:pP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background-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color:</a:t>
            </a:r>
            <a:r>
              <a:rPr sz="1350" spc="-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blue;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color: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white;</a:t>
            </a:r>
            <a:endParaRPr sz="1350">
              <a:latin typeface="Courier New"/>
              <a:cs typeface="Courier New"/>
            </a:endParaRPr>
          </a:p>
          <a:p>
            <a:pPr marL="424180" marR="725170">
              <a:lnSpc>
                <a:spcPct val="134300"/>
              </a:lnSpc>
              <a:spcBef>
                <a:spcPts val="70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padding: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10px</a:t>
            </a: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20px; border-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radius:</a:t>
            </a:r>
            <a:r>
              <a:rPr sz="135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20" dirty="0">
                <a:solidFill>
                  <a:srgbClr val="4ADE80"/>
                </a:solidFill>
                <a:latin typeface="Courier New"/>
                <a:cs typeface="Courier New"/>
              </a:rPr>
              <a:t>8px;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64869" y="2860674"/>
            <a:ext cx="152400" cy="1460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696644" y="2784982"/>
            <a:ext cx="10236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292524"/>
                </a:solidFill>
                <a:latin typeface="Tahoma"/>
                <a:cs typeface="Tahoma"/>
              </a:rPr>
              <a:t>Penjelasan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44244" y="3406546"/>
            <a:ext cx="61341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Selector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7744" y="3397250"/>
            <a:ext cx="666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9580C"/>
                </a:solidFill>
                <a:latin typeface="Courier New"/>
                <a:cs typeface="Courier New"/>
              </a:rPr>
              <a:t>.button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5533" y="3406546"/>
            <a:ext cx="6477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Property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28844" y="3237230"/>
            <a:ext cx="1031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DB2525"/>
                </a:solidFill>
                <a:latin typeface="Courier New"/>
                <a:cs typeface="Courier New"/>
              </a:rPr>
              <a:t>background-color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4244" y="4092346"/>
            <a:ext cx="43053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Value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7744" y="4083050"/>
            <a:ext cx="391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FB981"/>
                </a:solidFill>
                <a:latin typeface="Courier New"/>
                <a:cs typeface="Courier New"/>
              </a:rPr>
              <a:t>blue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85533" y="4092346"/>
            <a:ext cx="85280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Declaration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89689" y="3966844"/>
            <a:ext cx="13862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b="1" dirty="0">
                <a:solidFill>
                  <a:srgbClr val="F59D0A"/>
                </a:solidFill>
                <a:latin typeface="Courier New"/>
                <a:cs typeface="Courier New"/>
              </a:rPr>
              <a:t>background-</a:t>
            </a:r>
            <a:r>
              <a:rPr sz="1050" b="1" spc="-10" dirty="0">
                <a:solidFill>
                  <a:srgbClr val="F59D0A"/>
                </a:solidFill>
                <a:latin typeface="Courier New"/>
                <a:cs typeface="Courier New"/>
              </a:rPr>
              <a:t>color: blue;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44244" y="4629830"/>
            <a:ext cx="852805" cy="4826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Declaration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Block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77744" y="4778375"/>
            <a:ext cx="5861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A7280"/>
                </a:solidFill>
                <a:latin typeface="Courier New"/>
                <a:cs typeface="Courier New"/>
              </a:rPr>
              <a:t>{ ... </a:t>
            </a:r>
            <a:r>
              <a:rPr sz="1050" spc="-50" dirty="0">
                <a:solidFill>
                  <a:srgbClr val="6A728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4700" cy="6918949"/>
            <a:chOff x="0" y="0"/>
            <a:chExt cx="11791315" cy="6918949"/>
          </a:xfrm>
        </p:grpSpPr>
        <p:sp>
          <p:nvSpPr>
            <p:cNvPr id="3" name="object 3"/>
            <p:cNvSpPr/>
            <p:nvPr/>
          </p:nvSpPr>
          <p:spPr>
            <a:xfrm>
              <a:off x="0" y="8901"/>
              <a:ext cx="11791315" cy="6861809"/>
            </a:xfrm>
            <a:custGeom>
              <a:avLst/>
              <a:gdLst/>
              <a:ahLst/>
              <a:cxnLst/>
              <a:rect l="l" t="t" r="r" b="b"/>
              <a:pathLst>
                <a:path w="11791315" h="6861809">
                  <a:moveTo>
                    <a:pt x="9194" y="0"/>
                  </a:moveTo>
                  <a:lnTo>
                    <a:pt x="0" y="0"/>
                  </a:lnTo>
                  <a:lnTo>
                    <a:pt x="0" y="6607810"/>
                  </a:lnTo>
                  <a:lnTo>
                    <a:pt x="9194" y="6607810"/>
                  </a:lnTo>
                  <a:lnTo>
                    <a:pt x="9194" y="0"/>
                  </a:lnTo>
                  <a:close/>
                </a:path>
                <a:path w="11791315" h="6861809">
                  <a:moveTo>
                    <a:pt x="11790921" y="6616878"/>
                  </a:moveTo>
                  <a:lnTo>
                    <a:pt x="0" y="6616878"/>
                  </a:lnTo>
                  <a:lnTo>
                    <a:pt x="0" y="6861797"/>
                  </a:lnTo>
                  <a:lnTo>
                    <a:pt x="11790921" y="6861797"/>
                  </a:lnTo>
                  <a:lnTo>
                    <a:pt x="11790921" y="6616878"/>
                  </a:lnTo>
                  <a:close/>
                </a:path>
                <a:path w="11791315" h="6861809">
                  <a:moveTo>
                    <a:pt x="11790921" y="304"/>
                  </a:moveTo>
                  <a:lnTo>
                    <a:pt x="11788356" y="304"/>
                  </a:lnTo>
                  <a:lnTo>
                    <a:pt x="11788356" y="6607670"/>
                  </a:lnTo>
                  <a:lnTo>
                    <a:pt x="11790921" y="6607670"/>
                  </a:lnTo>
                  <a:lnTo>
                    <a:pt x="11790921" y="304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202" y="0"/>
              <a:ext cx="11779250" cy="6918949"/>
            </a:xfrm>
            <a:custGeom>
              <a:avLst/>
              <a:gdLst/>
              <a:ahLst/>
              <a:cxnLst/>
              <a:rect l="l" t="t" r="r" b="b"/>
              <a:pathLst>
                <a:path w="11779250" h="6626225">
                  <a:moveTo>
                    <a:pt x="11779154" y="6625774"/>
                  </a:moveTo>
                  <a:lnTo>
                    <a:pt x="0" y="6625774"/>
                  </a:lnTo>
                  <a:lnTo>
                    <a:pt x="0" y="0"/>
                  </a:lnTo>
                  <a:lnTo>
                    <a:pt x="11779154" y="0"/>
                  </a:lnTo>
                  <a:lnTo>
                    <a:pt x="11779154" y="6625774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624" y="660864"/>
              <a:ext cx="231774" cy="1873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19203" y="655085"/>
            <a:ext cx="93218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5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2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600" spc="-20" dirty="0"/>
              <a:t>Fungsi</a:t>
            </a:r>
            <a:r>
              <a:rPr sz="3600" spc="-50" dirty="0"/>
              <a:t> </a:t>
            </a:r>
            <a:r>
              <a:rPr sz="3600" spc="285" dirty="0"/>
              <a:t>CSS</a:t>
            </a:r>
            <a:r>
              <a:rPr sz="3600" spc="-250" dirty="0"/>
              <a:t> </a:t>
            </a:r>
            <a:r>
              <a:rPr sz="3600" dirty="0"/>
              <a:t>dalam</a:t>
            </a:r>
            <a:r>
              <a:rPr sz="3600" spc="-210" dirty="0"/>
              <a:t> </a:t>
            </a:r>
            <a:r>
              <a:rPr sz="3600" spc="-10" dirty="0">
                <a:solidFill>
                  <a:srgbClr val="E9580C"/>
                </a:solidFill>
              </a:rPr>
              <a:t>Website</a:t>
            </a:r>
            <a:r>
              <a:rPr sz="3600" spc="-220" dirty="0">
                <a:solidFill>
                  <a:srgbClr val="E9580C"/>
                </a:solidFill>
              </a:rPr>
              <a:t> </a:t>
            </a:r>
            <a:r>
              <a:rPr sz="3600" dirty="0">
                <a:solidFill>
                  <a:srgbClr val="9CA2AF"/>
                </a:solidFill>
              </a:rPr>
              <a:t>Bagian</a:t>
            </a:r>
            <a:r>
              <a:rPr sz="3600" spc="-125" dirty="0">
                <a:solidFill>
                  <a:srgbClr val="9CA2AF"/>
                </a:solidFill>
              </a:rPr>
              <a:t> </a:t>
            </a:r>
            <a:r>
              <a:rPr sz="3600" spc="-50" dirty="0">
                <a:solidFill>
                  <a:srgbClr val="9CA2AF"/>
                </a:solidFill>
              </a:rPr>
              <a:t>1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580123" y="1693253"/>
            <a:ext cx="10640060" cy="4841240"/>
            <a:chOff x="580123" y="1693253"/>
            <a:chExt cx="10640060" cy="48412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123" y="1693253"/>
              <a:ext cx="10639520" cy="48412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852" y="2243909"/>
              <a:ext cx="371474" cy="3714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947424" y="2224234"/>
            <a:ext cx="228473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30" dirty="0">
                <a:solidFill>
                  <a:srgbClr val="292524"/>
                </a:solidFill>
                <a:latin typeface="Tahoma"/>
                <a:cs typeface="Tahoma"/>
              </a:rPr>
              <a:t>Mengatur</a:t>
            </a:r>
            <a:r>
              <a:rPr sz="230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2300" b="1" spc="-105" dirty="0">
                <a:solidFill>
                  <a:srgbClr val="292524"/>
                </a:solidFill>
                <a:latin typeface="Tahoma"/>
                <a:cs typeface="Tahoma"/>
              </a:rPr>
              <a:t>Warna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3988" y="2893718"/>
            <a:ext cx="4345305" cy="8356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55"/>
              </a:spcBef>
            </a:pP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Mengatur</a:t>
            </a:r>
            <a:r>
              <a:rPr sz="1350" spc="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warna</a:t>
            </a:r>
            <a:r>
              <a:rPr sz="1350" spc="9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teks,</a:t>
            </a:r>
            <a:r>
              <a:rPr sz="1350" spc="10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background,</a:t>
            </a:r>
            <a:r>
              <a:rPr sz="1350" spc="10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35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elemen</a:t>
            </a:r>
            <a:r>
              <a:rPr sz="135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visual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lainnya</a:t>
            </a:r>
            <a:r>
              <a:rPr sz="1350" spc="16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untuk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menciptakan</a:t>
            </a:r>
            <a:r>
              <a:rPr sz="1350" spc="1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tampilan</a:t>
            </a:r>
            <a:r>
              <a:rPr sz="1350" spc="1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yang</a:t>
            </a:r>
            <a:r>
              <a:rPr sz="1350" spc="16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menarik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4A5462"/>
                </a:solidFill>
                <a:latin typeface="Tahoma"/>
                <a:cs typeface="Tahoma"/>
              </a:rPr>
              <a:t>dan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konsisten.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77902" y="2420046"/>
            <a:ext cx="5616575" cy="2698750"/>
            <a:chOff x="1277902" y="2420046"/>
            <a:chExt cx="5616575" cy="26987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1712" y="2420046"/>
              <a:ext cx="352424" cy="2762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7902" y="4766029"/>
              <a:ext cx="333374" cy="3333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2662" y="4746979"/>
              <a:ext cx="371474" cy="3714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11234" y="2362271"/>
            <a:ext cx="303720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30" dirty="0">
                <a:solidFill>
                  <a:srgbClr val="292524"/>
                </a:solidFill>
                <a:latin typeface="Tahoma"/>
                <a:cs typeface="Tahoma"/>
              </a:rPr>
              <a:t>Mengatur</a:t>
            </a:r>
            <a:r>
              <a:rPr sz="230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2300" b="1" spc="-155" dirty="0">
                <a:solidFill>
                  <a:srgbClr val="292524"/>
                </a:solidFill>
                <a:latin typeface="Tahoma"/>
                <a:cs typeface="Tahoma"/>
              </a:rPr>
              <a:t>Ukuran</a:t>
            </a:r>
            <a:r>
              <a:rPr sz="2300" b="1" spc="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2300" b="1" spc="-130" dirty="0">
                <a:solidFill>
                  <a:srgbClr val="292524"/>
                </a:solidFill>
                <a:latin typeface="Tahoma"/>
                <a:cs typeface="Tahoma"/>
              </a:rPr>
              <a:t>Teks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7797" y="3031755"/>
            <a:ext cx="4354195" cy="559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0"/>
              </a:spcBef>
            </a:pP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Mengatur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font</a:t>
            </a:r>
            <a:r>
              <a:rPr sz="1350" spc="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4A5462"/>
                </a:solidFill>
                <a:latin typeface="Tahoma"/>
                <a:cs typeface="Tahoma"/>
              </a:rPr>
              <a:t>size,</a:t>
            </a:r>
            <a:r>
              <a:rPr sz="1350" spc="8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line-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height,</a:t>
            </a:r>
            <a:r>
              <a:rPr sz="1350" spc="8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350" spc="9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letter</a:t>
            </a:r>
            <a:r>
              <a:rPr sz="1350" spc="1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spacing</a:t>
            </a:r>
            <a:r>
              <a:rPr sz="1350" spc="8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untuk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meningkatkan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keterbacaan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hierarki</a:t>
            </a:r>
            <a:r>
              <a:rPr sz="1350" spc="1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visual.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47424" y="4727305"/>
            <a:ext cx="233299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30" dirty="0">
                <a:solidFill>
                  <a:srgbClr val="292524"/>
                </a:solidFill>
                <a:latin typeface="Tahoma"/>
                <a:cs typeface="Tahoma"/>
              </a:rPr>
              <a:t>Mengatur</a:t>
            </a:r>
            <a:r>
              <a:rPr sz="230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2300" b="1" spc="-70" dirty="0">
                <a:solidFill>
                  <a:srgbClr val="292524"/>
                </a:solidFill>
                <a:latin typeface="Tahoma"/>
                <a:cs typeface="Tahoma"/>
              </a:rPr>
              <a:t>Layout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3988" y="5396788"/>
            <a:ext cx="4422775" cy="559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0"/>
              </a:spcBef>
            </a:pP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Mengatur posisi</a:t>
            </a:r>
            <a:r>
              <a:rPr sz="135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elemen,</a:t>
            </a:r>
            <a:r>
              <a:rPr sz="1350" spc="7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margin,</a:t>
            </a:r>
            <a:r>
              <a:rPr sz="1350" spc="7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padding,</a:t>
            </a:r>
            <a:r>
              <a:rPr sz="1350" spc="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350" spc="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tata</a:t>
            </a:r>
            <a:r>
              <a:rPr sz="1350" spc="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letak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halaman</a:t>
            </a:r>
            <a:r>
              <a:rPr sz="1350" spc="229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secara</a:t>
            </a:r>
            <a:r>
              <a:rPr sz="1350" spc="2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keseluruhan.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11234" y="4727305"/>
            <a:ext cx="2388870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50" dirty="0">
                <a:solidFill>
                  <a:srgbClr val="292524"/>
                </a:solidFill>
                <a:latin typeface="Tahoma"/>
                <a:cs typeface="Tahoma"/>
              </a:rPr>
              <a:t>Membuat</a:t>
            </a:r>
            <a:r>
              <a:rPr sz="2300" b="1" spc="-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2300" b="1" spc="-150" dirty="0">
                <a:solidFill>
                  <a:srgbClr val="292524"/>
                </a:solidFill>
                <a:latin typeface="Tahoma"/>
                <a:cs typeface="Tahoma"/>
              </a:rPr>
              <a:t>Animasi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27797" y="5396788"/>
            <a:ext cx="4212590" cy="559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0"/>
              </a:spcBef>
            </a:pP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Membuat</a:t>
            </a:r>
            <a:r>
              <a:rPr sz="1350" spc="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transisi</a:t>
            </a:r>
            <a:r>
              <a:rPr sz="1350" spc="1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animasi</a:t>
            </a:r>
            <a:r>
              <a:rPr sz="1350" spc="1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elemen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5462"/>
                </a:solidFill>
                <a:latin typeface="Tahoma"/>
                <a:cs typeface="Tahoma"/>
              </a:rPr>
              <a:t>interaktif</a:t>
            </a:r>
            <a:r>
              <a:rPr sz="1350" spc="2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untuk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pengalaman</a:t>
            </a:r>
            <a:r>
              <a:rPr sz="1350" spc="12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pengguna</a:t>
            </a:r>
            <a:r>
              <a:rPr sz="1350" spc="114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yang</a:t>
            </a:r>
            <a:r>
              <a:rPr sz="135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5462"/>
                </a:solidFill>
                <a:latin typeface="Tahoma"/>
                <a:cs typeface="Tahoma"/>
              </a:rPr>
              <a:t>lebih</a:t>
            </a:r>
            <a:r>
              <a:rPr sz="1350" spc="12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Tahoma"/>
                <a:cs typeface="Tahoma"/>
              </a:rPr>
              <a:t>dinamis.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9" y="682624"/>
            <a:ext cx="241300" cy="1968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Fungsi</a:t>
            </a:r>
            <a:r>
              <a:rPr spc="-75" dirty="0"/>
              <a:t> </a:t>
            </a:r>
            <a:r>
              <a:rPr spc="285" dirty="0"/>
              <a:t>CSS</a:t>
            </a:r>
            <a:r>
              <a:rPr spc="-285" dirty="0"/>
              <a:t> </a:t>
            </a:r>
            <a:r>
              <a:rPr spc="-20" dirty="0"/>
              <a:t>dalam</a:t>
            </a:r>
            <a:r>
              <a:rPr spc="-240" dirty="0"/>
              <a:t> </a:t>
            </a:r>
            <a:r>
              <a:rPr spc="-320" dirty="0">
                <a:solidFill>
                  <a:srgbClr val="E9580C"/>
                </a:solidFill>
              </a:rPr>
              <a:t>W</a:t>
            </a:r>
            <a:r>
              <a:rPr dirty="0">
                <a:solidFill>
                  <a:srgbClr val="E9580C"/>
                </a:solidFill>
              </a:rPr>
              <a:t>e</a:t>
            </a:r>
            <a:r>
              <a:rPr spc="10" dirty="0">
                <a:solidFill>
                  <a:srgbClr val="E9580C"/>
                </a:solidFill>
              </a:rPr>
              <a:t>b</a:t>
            </a:r>
            <a:r>
              <a:rPr spc="30" dirty="0">
                <a:solidFill>
                  <a:srgbClr val="E9580C"/>
                </a:solidFill>
              </a:rPr>
              <a:t>s</a:t>
            </a:r>
            <a:r>
              <a:rPr spc="195" dirty="0">
                <a:solidFill>
                  <a:srgbClr val="E9580C"/>
                </a:solidFill>
              </a:rPr>
              <a:t>i</a:t>
            </a:r>
            <a:r>
              <a:rPr spc="-125" dirty="0">
                <a:solidFill>
                  <a:srgbClr val="E9580C"/>
                </a:solidFill>
              </a:rPr>
              <a:t>t</a:t>
            </a:r>
            <a:r>
              <a:rPr spc="55" dirty="0">
                <a:solidFill>
                  <a:srgbClr val="E9580C"/>
                </a:solidFill>
              </a:rPr>
              <a:t>e</a:t>
            </a:r>
            <a:r>
              <a:rPr spc="-250" dirty="0">
                <a:solidFill>
                  <a:srgbClr val="E9580C"/>
                </a:solidFill>
              </a:rPr>
              <a:t> </a:t>
            </a:r>
            <a:r>
              <a:rPr dirty="0">
                <a:solidFill>
                  <a:srgbClr val="9CA2AF"/>
                </a:solidFill>
              </a:rPr>
              <a:t>Bagian</a:t>
            </a:r>
            <a:r>
              <a:rPr spc="-155" dirty="0">
                <a:solidFill>
                  <a:srgbClr val="9CA2AF"/>
                </a:solidFill>
              </a:rPr>
              <a:t> </a:t>
            </a:r>
            <a:r>
              <a:rPr spc="-50" dirty="0">
                <a:solidFill>
                  <a:srgbClr val="9CA2AF"/>
                </a:solidFill>
              </a:rPr>
              <a:t>2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7679" y="1752600"/>
            <a:ext cx="11235055" cy="4971415"/>
            <a:chOff x="487679" y="1752600"/>
            <a:chExt cx="11235055" cy="49714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79" y="1752600"/>
              <a:ext cx="11234927" cy="49712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824" y="2740024"/>
              <a:ext cx="457200" cy="3111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16124" y="2582519"/>
            <a:ext cx="1121410" cy="6032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265"/>
              </a:lnSpc>
              <a:spcBef>
                <a:spcPts val="114"/>
              </a:spcBef>
            </a:pPr>
            <a:r>
              <a:rPr sz="1900" b="1" spc="-25" dirty="0">
                <a:solidFill>
                  <a:srgbClr val="292524"/>
                </a:solidFill>
                <a:latin typeface="Tahoma"/>
                <a:cs typeface="Tahoma"/>
              </a:rPr>
              <a:t>Tampilan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265"/>
              </a:lnSpc>
            </a:pPr>
            <a:r>
              <a:rPr sz="1900" b="1" spc="-80" dirty="0">
                <a:solidFill>
                  <a:srgbClr val="292524"/>
                </a:solidFill>
                <a:latin typeface="Tahoma"/>
                <a:cs typeface="Tahoma"/>
              </a:rPr>
              <a:t>Responsif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1724" y="3376584"/>
            <a:ext cx="2389505" cy="8636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55"/>
              </a:spcBef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Membuat</a:t>
            </a:r>
            <a:r>
              <a:rPr sz="1400" spc="1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tampilan</a:t>
            </a:r>
            <a:r>
              <a:rPr sz="1400" spc="21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website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menyesuaikan</a:t>
            </a:r>
            <a:r>
              <a:rPr sz="1400" spc="19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semua</a:t>
            </a:r>
            <a:r>
              <a:rPr sz="1400" spc="19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ukuran </a:t>
            </a:r>
            <a:r>
              <a:rPr sz="1400" spc="55" dirty="0">
                <a:solidFill>
                  <a:srgbClr val="4A5462"/>
                </a:solidFill>
                <a:latin typeface="Tahoma"/>
                <a:cs typeface="Tahoma"/>
              </a:rPr>
              <a:t>layar</a:t>
            </a:r>
            <a:r>
              <a:rPr sz="1400" spc="1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secara</a:t>
            </a:r>
            <a:r>
              <a:rPr sz="1400" spc="9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otomatis.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1524" y="2825749"/>
            <a:ext cx="10668000" cy="3422650"/>
            <a:chOff x="771524" y="2825749"/>
            <a:chExt cx="10668000" cy="34226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2000" y="2838449"/>
              <a:ext cx="31115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7000" y="2825749"/>
              <a:ext cx="425450" cy="4254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524" y="5181599"/>
              <a:ext cx="10667999" cy="10667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2321" y="5572124"/>
              <a:ext cx="285750" cy="2857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22978" y="5572124"/>
              <a:ext cx="285750" cy="2857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648275" y="2582519"/>
            <a:ext cx="1351280" cy="6032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265"/>
              </a:lnSpc>
              <a:spcBef>
                <a:spcPts val="114"/>
              </a:spcBef>
            </a:pPr>
            <a:r>
              <a:rPr sz="1900" b="1" spc="-25" dirty="0">
                <a:solidFill>
                  <a:srgbClr val="292524"/>
                </a:solidFill>
                <a:latin typeface="Tahoma"/>
                <a:cs typeface="Tahoma"/>
              </a:rPr>
              <a:t>Jarak</a:t>
            </a:r>
            <a:r>
              <a:rPr sz="1900" b="1" spc="-114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65" dirty="0">
                <a:solidFill>
                  <a:srgbClr val="292524"/>
                </a:solidFill>
                <a:latin typeface="Tahoma"/>
                <a:cs typeface="Tahoma"/>
              </a:rPr>
              <a:t>Antar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265"/>
              </a:lnSpc>
            </a:pP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Elemen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3875" y="3376584"/>
            <a:ext cx="2496820" cy="8636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31700"/>
              </a:lnSpc>
              <a:spcBef>
                <a:spcPts val="55"/>
              </a:spcBef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Mengatur</a:t>
            </a:r>
            <a:r>
              <a:rPr sz="1400" spc="6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margin</a:t>
            </a:r>
            <a:r>
              <a:rPr sz="1400" spc="15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400" spc="15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padding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untuk</a:t>
            </a:r>
            <a:r>
              <a:rPr sz="1400" spc="8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pengaturan</a:t>
            </a:r>
            <a:r>
              <a:rPr sz="1400" spc="1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ruang</a:t>
            </a:r>
            <a:r>
              <a:rPr sz="1400" spc="14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A5462"/>
                </a:solidFill>
                <a:latin typeface="Tahoma"/>
                <a:cs typeface="Tahoma"/>
              </a:rPr>
              <a:t>antar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konten</a:t>
            </a:r>
            <a:r>
              <a:rPr sz="1400" spc="10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dengan</a:t>
            </a:r>
            <a:r>
              <a:rPr sz="1400" spc="1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presisi.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80425" y="2868269"/>
            <a:ext cx="172212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14" dirty="0">
                <a:solidFill>
                  <a:srgbClr val="292524"/>
                </a:solidFill>
                <a:latin typeface="Tahoma"/>
                <a:cs typeface="Tahoma"/>
              </a:rPr>
              <a:t>Desain</a:t>
            </a:r>
            <a:r>
              <a:rPr sz="1900" b="1" spc="-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100" dirty="0">
                <a:solidFill>
                  <a:srgbClr val="292524"/>
                </a:solidFill>
                <a:latin typeface="Tahoma"/>
                <a:cs typeface="Tahoma"/>
              </a:rPr>
              <a:t>Menarik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66025" y="3519459"/>
            <a:ext cx="267970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0"/>
              </a:spcBef>
            </a:pP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Membuat</a:t>
            </a:r>
            <a:r>
              <a:rPr sz="1400" spc="9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desain</a:t>
            </a:r>
            <a:r>
              <a:rPr sz="1400" spc="13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website</a:t>
            </a:r>
            <a:r>
              <a:rPr sz="1400" spc="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A5462"/>
                </a:solidFill>
                <a:latin typeface="Tahoma"/>
                <a:cs typeface="Tahoma"/>
              </a:rPr>
              <a:t>lebih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menarik,</a:t>
            </a:r>
            <a:r>
              <a:rPr sz="140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profesional,</a:t>
            </a:r>
            <a:r>
              <a:rPr sz="1400" spc="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A5462"/>
                </a:solidFill>
                <a:latin typeface="Tahoma"/>
                <a:cs typeface="Tahoma"/>
              </a:rPr>
              <a:t>dan</a:t>
            </a:r>
            <a:r>
              <a:rPr sz="1400" spc="5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A5462"/>
                </a:solidFill>
                <a:latin typeface="Tahoma"/>
                <a:cs typeface="Tahoma"/>
              </a:rPr>
              <a:t>estetik.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6345" y="5290020"/>
            <a:ext cx="7498715" cy="7029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894"/>
              </a:spcBef>
            </a:pPr>
            <a:r>
              <a:rPr sz="1850" b="1" spc="-20" dirty="0">
                <a:solidFill>
                  <a:srgbClr val="FFFFFF"/>
                </a:solidFill>
                <a:latin typeface="Trebuchet MS"/>
                <a:cs typeface="Trebuchet MS"/>
              </a:rPr>
              <a:t>Kesimpulan</a:t>
            </a:r>
            <a:r>
              <a:rPr sz="185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rebuchet MS"/>
                <a:cs typeface="Trebuchet MS"/>
              </a:rPr>
              <a:t>Fungsi</a:t>
            </a:r>
            <a:r>
              <a:rPr sz="185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b="1" spc="125" dirty="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endParaRPr sz="18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CSS</a:t>
            </a:r>
            <a:r>
              <a:rPr sz="1400" spc="3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adalah</a:t>
            </a:r>
            <a:r>
              <a:rPr sz="1400" spc="10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kunci</a:t>
            </a:r>
            <a:r>
              <a:rPr sz="1400" spc="13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untuk</a:t>
            </a:r>
            <a:r>
              <a:rPr sz="1400" spc="4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menciptakan</a:t>
            </a:r>
            <a:r>
              <a:rPr sz="1400" spc="9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tampilan</a:t>
            </a:r>
            <a:r>
              <a:rPr sz="1400" spc="95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website</a:t>
            </a:r>
            <a:r>
              <a:rPr sz="1400" spc="4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yang</a:t>
            </a:r>
            <a:r>
              <a:rPr sz="1400" spc="85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modern,</a:t>
            </a:r>
            <a:r>
              <a:rPr sz="1400" spc="9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responsif,</a:t>
            </a:r>
            <a:r>
              <a:rPr sz="1400" spc="9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EFEFE"/>
                </a:solidFill>
                <a:latin typeface="Tahoma"/>
                <a:cs typeface="Tahoma"/>
              </a:rPr>
              <a:t>dan</a:t>
            </a:r>
            <a:r>
              <a:rPr sz="1400" spc="95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EFEFE"/>
                </a:solidFill>
                <a:latin typeface="Tahoma"/>
                <a:cs typeface="Tahoma"/>
              </a:rPr>
              <a:t>menarik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9" y="660399"/>
            <a:ext cx="241300" cy="241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8874" y="678491"/>
            <a:ext cx="96393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30" dirty="0">
                <a:solidFill>
                  <a:srgbClr val="E9580C"/>
                </a:solidFill>
                <a:latin typeface="Tahoma"/>
                <a:cs typeface="Tahoma"/>
              </a:rPr>
              <a:t>ANATOMI</a:t>
            </a:r>
            <a:r>
              <a:rPr sz="1050" b="1" spc="5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50" b="1" spc="-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Kesimpulan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455" y="2645663"/>
            <a:ext cx="4612005" cy="2974975"/>
            <a:chOff x="600455" y="2645663"/>
            <a:chExt cx="4612005" cy="2974975"/>
          </a:xfrm>
        </p:grpSpPr>
        <p:sp>
          <p:nvSpPr>
            <p:cNvPr id="6" name="object 6"/>
            <p:cNvSpPr/>
            <p:nvPr/>
          </p:nvSpPr>
          <p:spPr>
            <a:xfrm>
              <a:off x="600443" y="2645675"/>
              <a:ext cx="4612005" cy="2974975"/>
            </a:xfrm>
            <a:custGeom>
              <a:avLst/>
              <a:gdLst/>
              <a:ahLst/>
              <a:cxnLst/>
              <a:rect l="l" t="t" r="r" b="b"/>
              <a:pathLst>
                <a:path w="4612005" h="2974975">
                  <a:moveTo>
                    <a:pt x="4611624" y="0"/>
                  </a:moveTo>
                  <a:lnTo>
                    <a:pt x="4428744" y="0"/>
                  </a:lnTo>
                  <a:lnTo>
                    <a:pt x="4428744" y="230886"/>
                  </a:lnTo>
                  <a:lnTo>
                    <a:pt x="4428744" y="2554986"/>
                  </a:lnTo>
                  <a:lnTo>
                    <a:pt x="4422635" y="2596388"/>
                  </a:lnTo>
                  <a:lnTo>
                    <a:pt x="4404690" y="2634373"/>
                  </a:lnTo>
                  <a:lnTo>
                    <a:pt x="4376471" y="2665476"/>
                  </a:lnTo>
                  <a:lnTo>
                    <a:pt x="4340555" y="2686977"/>
                  </a:lnTo>
                  <a:lnTo>
                    <a:pt x="4299953" y="2697175"/>
                  </a:lnTo>
                  <a:lnTo>
                    <a:pt x="4285869" y="2697861"/>
                  </a:lnTo>
                  <a:lnTo>
                    <a:pt x="323469" y="2697861"/>
                  </a:lnTo>
                  <a:lnTo>
                    <a:pt x="282067" y="2691739"/>
                  </a:lnTo>
                  <a:lnTo>
                    <a:pt x="244081" y="2673794"/>
                  </a:lnTo>
                  <a:lnTo>
                    <a:pt x="212979" y="2645575"/>
                  </a:lnTo>
                  <a:lnTo>
                    <a:pt x="191477" y="2609659"/>
                  </a:lnTo>
                  <a:lnTo>
                    <a:pt x="181279" y="2569057"/>
                  </a:lnTo>
                  <a:lnTo>
                    <a:pt x="180594" y="2554986"/>
                  </a:lnTo>
                  <a:lnTo>
                    <a:pt x="180594" y="230886"/>
                  </a:lnTo>
                  <a:lnTo>
                    <a:pt x="186715" y="189471"/>
                  </a:lnTo>
                  <a:lnTo>
                    <a:pt x="204660" y="151485"/>
                  </a:lnTo>
                  <a:lnTo>
                    <a:pt x="232879" y="120383"/>
                  </a:lnTo>
                  <a:lnTo>
                    <a:pt x="268795" y="98882"/>
                  </a:lnTo>
                  <a:lnTo>
                    <a:pt x="309397" y="88684"/>
                  </a:lnTo>
                  <a:lnTo>
                    <a:pt x="323469" y="88011"/>
                  </a:lnTo>
                  <a:lnTo>
                    <a:pt x="4285869" y="88011"/>
                  </a:lnTo>
                  <a:lnTo>
                    <a:pt x="4327283" y="94119"/>
                  </a:lnTo>
                  <a:lnTo>
                    <a:pt x="4365269" y="112064"/>
                  </a:lnTo>
                  <a:lnTo>
                    <a:pt x="4396371" y="140284"/>
                  </a:lnTo>
                  <a:lnTo>
                    <a:pt x="4417873" y="176199"/>
                  </a:lnTo>
                  <a:lnTo>
                    <a:pt x="4428071" y="216801"/>
                  </a:lnTo>
                  <a:lnTo>
                    <a:pt x="4428744" y="230886"/>
                  </a:lnTo>
                  <a:lnTo>
                    <a:pt x="4428744" y="0"/>
                  </a:lnTo>
                  <a:lnTo>
                    <a:pt x="0" y="0"/>
                  </a:lnTo>
                  <a:lnTo>
                    <a:pt x="0" y="2974848"/>
                  </a:lnTo>
                  <a:lnTo>
                    <a:pt x="4611624" y="2974848"/>
                  </a:lnTo>
                  <a:lnTo>
                    <a:pt x="4611624" y="2697861"/>
                  </a:lnTo>
                  <a:lnTo>
                    <a:pt x="4611624" y="88011"/>
                  </a:lnTo>
                  <a:lnTo>
                    <a:pt x="46116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0574" y="2724149"/>
              <a:ext cx="4248150" cy="2628900"/>
            </a:xfrm>
            <a:custGeom>
              <a:avLst/>
              <a:gdLst/>
              <a:ahLst/>
              <a:cxnLst/>
              <a:rect l="l" t="t" r="r" b="b"/>
              <a:pathLst>
                <a:path w="4248150" h="2628900">
                  <a:moveTo>
                    <a:pt x="4095749" y="2628899"/>
                  </a:moveTo>
                  <a:lnTo>
                    <a:pt x="133349" y="2628899"/>
                  </a:lnTo>
                  <a:lnTo>
                    <a:pt x="126798" y="2628716"/>
                  </a:lnTo>
                  <a:lnTo>
                    <a:pt x="88432" y="2619994"/>
                  </a:lnTo>
                  <a:lnTo>
                    <a:pt x="53906" y="2598904"/>
                  </a:lnTo>
                  <a:lnTo>
                    <a:pt x="26246" y="2567292"/>
                  </a:lnTo>
                  <a:lnTo>
                    <a:pt x="7791" y="2527833"/>
                  </a:lnTo>
                  <a:lnTo>
                    <a:pt x="160" y="2483986"/>
                  </a:lnTo>
                  <a:lnTo>
                    <a:pt x="0" y="2476499"/>
                  </a:lnTo>
                  <a:lnTo>
                    <a:pt x="0" y="152399"/>
                  </a:lnTo>
                  <a:lnTo>
                    <a:pt x="5740" y="108159"/>
                  </a:lnTo>
                  <a:lnTo>
                    <a:pt x="22473" y="67730"/>
                  </a:lnTo>
                  <a:lnTo>
                    <a:pt x="48752" y="34591"/>
                  </a:lnTo>
                  <a:lnTo>
                    <a:pt x="82319" y="11600"/>
                  </a:lnTo>
                  <a:lnTo>
                    <a:pt x="120279" y="732"/>
                  </a:lnTo>
                  <a:lnTo>
                    <a:pt x="133349" y="0"/>
                  </a:lnTo>
                  <a:lnTo>
                    <a:pt x="4095749" y="0"/>
                  </a:lnTo>
                  <a:lnTo>
                    <a:pt x="4139989" y="6560"/>
                  </a:lnTo>
                  <a:lnTo>
                    <a:pt x="4180417" y="25683"/>
                  </a:lnTo>
                  <a:lnTo>
                    <a:pt x="4213557" y="55717"/>
                  </a:lnTo>
                  <a:lnTo>
                    <a:pt x="4236548" y="94078"/>
                  </a:lnTo>
                  <a:lnTo>
                    <a:pt x="4247417" y="137461"/>
                  </a:lnTo>
                  <a:lnTo>
                    <a:pt x="4248149" y="152399"/>
                  </a:lnTo>
                  <a:lnTo>
                    <a:pt x="4248149" y="2476499"/>
                  </a:lnTo>
                  <a:lnTo>
                    <a:pt x="4241588" y="2520739"/>
                  </a:lnTo>
                  <a:lnTo>
                    <a:pt x="4222465" y="2561168"/>
                  </a:lnTo>
                  <a:lnTo>
                    <a:pt x="4192431" y="2594308"/>
                  </a:lnTo>
                  <a:lnTo>
                    <a:pt x="4154069" y="2617298"/>
                  </a:lnTo>
                  <a:lnTo>
                    <a:pt x="4110687" y="2628167"/>
                  </a:lnTo>
                  <a:lnTo>
                    <a:pt x="4095749" y="262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1524" y="2724149"/>
              <a:ext cx="152400" cy="2628900"/>
            </a:xfrm>
            <a:custGeom>
              <a:avLst/>
              <a:gdLst/>
              <a:ahLst/>
              <a:cxnLst/>
              <a:rect l="l" t="t" r="r" b="b"/>
              <a:pathLst>
                <a:path w="152400" h="2628900">
                  <a:moveTo>
                    <a:pt x="152400" y="2628899"/>
                  </a:moveTo>
                  <a:lnTo>
                    <a:pt x="108226" y="2622374"/>
                  </a:lnTo>
                  <a:lnTo>
                    <a:pt x="67715" y="2603239"/>
                  </a:lnTo>
                  <a:lnTo>
                    <a:pt x="34533" y="2573134"/>
                  </a:lnTo>
                  <a:lnTo>
                    <a:pt x="11600" y="2534820"/>
                  </a:lnTo>
                  <a:lnTo>
                    <a:pt x="725" y="2491512"/>
                  </a:lnTo>
                  <a:lnTo>
                    <a:pt x="0" y="2476499"/>
                  </a:lnTo>
                  <a:lnTo>
                    <a:pt x="0" y="152400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400" y="0"/>
                  </a:lnTo>
                  <a:lnTo>
                    <a:pt x="141140" y="725"/>
                  </a:lnTo>
                  <a:lnTo>
                    <a:pt x="130096" y="2900"/>
                  </a:lnTo>
                  <a:lnTo>
                    <a:pt x="88886" y="25660"/>
                  </a:lnTo>
                  <a:lnTo>
                    <a:pt x="64000" y="55765"/>
                  </a:lnTo>
                  <a:lnTo>
                    <a:pt x="46800" y="94078"/>
                  </a:lnTo>
                  <a:lnTo>
                    <a:pt x="38643" y="137387"/>
                  </a:lnTo>
                  <a:lnTo>
                    <a:pt x="38100" y="152400"/>
                  </a:lnTo>
                  <a:lnTo>
                    <a:pt x="38100" y="2476499"/>
                  </a:lnTo>
                  <a:lnTo>
                    <a:pt x="42994" y="2520672"/>
                  </a:lnTo>
                  <a:lnTo>
                    <a:pt x="57345" y="2561184"/>
                  </a:lnTo>
                  <a:lnTo>
                    <a:pt x="79923" y="2594365"/>
                  </a:lnTo>
                  <a:lnTo>
                    <a:pt x="119269" y="2622374"/>
                  </a:lnTo>
                  <a:lnTo>
                    <a:pt x="141140" y="2628174"/>
                  </a:lnTo>
                  <a:lnTo>
                    <a:pt x="152400" y="26288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4424" y="3562349"/>
              <a:ext cx="3619500" cy="1485900"/>
            </a:xfrm>
            <a:custGeom>
              <a:avLst/>
              <a:gdLst/>
              <a:ahLst/>
              <a:cxnLst/>
              <a:rect l="l" t="t" r="r" b="b"/>
              <a:pathLst>
                <a:path w="3619500" h="1485900">
                  <a:moveTo>
                    <a:pt x="3548302" y="1485899"/>
                  </a:moveTo>
                  <a:lnTo>
                    <a:pt x="71196" y="1485899"/>
                  </a:lnTo>
                  <a:lnTo>
                    <a:pt x="66241" y="1485411"/>
                  </a:lnTo>
                  <a:lnTo>
                    <a:pt x="29705" y="1470277"/>
                  </a:lnTo>
                  <a:lnTo>
                    <a:pt x="3885" y="1434237"/>
                  </a:lnTo>
                  <a:lnTo>
                    <a:pt x="0" y="1414702"/>
                  </a:lnTo>
                  <a:lnTo>
                    <a:pt x="0" y="14096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48302" y="0"/>
                  </a:lnTo>
                  <a:lnTo>
                    <a:pt x="3589793" y="15621"/>
                  </a:lnTo>
                  <a:lnTo>
                    <a:pt x="3615613" y="51661"/>
                  </a:lnTo>
                  <a:lnTo>
                    <a:pt x="3619499" y="71196"/>
                  </a:lnTo>
                  <a:lnTo>
                    <a:pt x="3619499" y="1414702"/>
                  </a:lnTo>
                  <a:lnTo>
                    <a:pt x="3603877" y="1456194"/>
                  </a:lnTo>
                  <a:lnTo>
                    <a:pt x="3567837" y="1482013"/>
                  </a:lnTo>
                  <a:lnTo>
                    <a:pt x="3553258" y="1485411"/>
                  </a:lnTo>
                  <a:lnTo>
                    <a:pt x="3548302" y="148589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474" y="3124199"/>
              <a:ext cx="190500" cy="1143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44625" y="3011144"/>
            <a:ext cx="142875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5" dirty="0">
                <a:solidFill>
                  <a:srgbClr val="292524"/>
                </a:solidFill>
                <a:latin typeface="Tahoma"/>
                <a:cs typeface="Tahoma"/>
              </a:rPr>
              <a:t>Struktur</a:t>
            </a:r>
            <a:r>
              <a:rPr sz="190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9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0324" y="3730625"/>
            <a:ext cx="345503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4ADE80"/>
                </a:solidFill>
                <a:latin typeface="Courier New"/>
                <a:cs typeface="Courier New"/>
              </a:rPr>
              <a:t>selector </a:t>
            </a:r>
            <a:r>
              <a:rPr sz="22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225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</a:pPr>
            <a:r>
              <a:rPr sz="2250" dirty="0">
                <a:solidFill>
                  <a:srgbClr val="4ADE80"/>
                </a:solidFill>
                <a:latin typeface="Courier New"/>
                <a:cs typeface="Courier New"/>
              </a:rPr>
              <a:t>property: </a:t>
            </a:r>
            <a:r>
              <a:rPr sz="2250" spc="-10" dirty="0">
                <a:solidFill>
                  <a:srgbClr val="4ADE80"/>
                </a:solidFill>
                <a:latin typeface="Courier New"/>
                <a:cs typeface="Courier New"/>
              </a:rPr>
              <a:t>value;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22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69991" y="1947672"/>
            <a:ext cx="6242685" cy="4258310"/>
            <a:chOff x="5269991" y="1947672"/>
            <a:chExt cx="6242685" cy="425831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9991" y="1947672"/>
              <a:ext cx="6242303" cy="42580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5474" y="2305049"/>
              <a:ext cx="266700" cy="2667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45225" y="2131091"/>
            <a:ext cx="1593215" cy="543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600" b="1" spc="-10" dirty="0">
                <a:solidFill>
                  <a:srgbClr val="292524"/>
                </a:solidFill>
                <a:latin typeface="Tahoma"/>
                <a:cs typeface="Tahoma"/>
              </a:rPr>
              <a:t>Selector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Memilih</a:t>
            </a:r>
            <a:r>
              <a:rPr sz="1250" spc="-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elemen</a:t>
            </a:r>
            <a:r>
              <a:rPr sz="1250" spc="-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4A5462"/>
                </a:solidFill>
                <a:latin typeface="Tahoma"/>
                <a:cs typeface="Tahoma"/>
              </a:rPr>
              <a:t>HTML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18174" y="3419475"/>
            <a:ext cx="241300" cy="2327275"/>
            <a:chOff x="5718174" y="3419475"/>
            <a:chExt cx="241300" cy="232727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0874" y="3419475"/>
              <a:ext cx="228600" cy="1714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8174" y="4473575"/>
              <a:ext cx="241300" cy="1968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30874" y="5505450"/>
              <a:ext cx="215900" cy="2413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245225" y="3197892"/>
            <a:ext cx="1444625" cy="543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600" b="1" spc="-10" dirty="0">
                <a:solidFill>
                  <a:srgbClr val="292524"/>
                </a:solidFill>
                <a:latin typeface="Tahoma"/>
                <a:cs typeface="Tahoma"/>
              </a:rPr>
              <a:t>Property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Atribut</a:t>
            </a:r>
            <a:r>
              <a:rPr sz="1250" spc="4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yang</a:t>
            </a:r>
            <a:r>
              <a:rPr sz="1250" spc="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diubah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5225" y="4264691"/>
            <a:ext cx="1179830" cy="543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600" b="1" spc="-10" dirty="0">
                <a:solidFill>
                  <a:srgbClr val="292524"/>
                </a:solidFill>
                <a:latin typeface="Tahoma"/>
                <a:cs typeface="Tahoma"/>
              </a:rPr>
              <a:t>Value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Nilai</a:t>
            </a:r>
            <a:r>
              <a:rPr sz="1250" spc="3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dari</a:t>
            </a:r>
            <a:r>
              <a:rPr sz="1250" spc="3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4A5462"/>
                </a:solidFill>
                <a:latin typeface="Tahoma"/>
                <a:cs typeface="Tahoma"/>
              </a:rPr>
              <a:t>atribut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45225" y="5331491"/>
            <a:ext cx="1228090" cy="543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600" b="1" spc="-10" dirty="0">
                <a:solidFill>
                  <a:srgbClr val="292524"/>
                </a:solidFill>
                <a:latin typeface="Tahoma"/>
                <a:cs typeface="Tahoma"/>
              </a:rPr>
              <a:t>Declaration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250" dirty="0">
                <a:solidFill>
                  <a:srgbClr val="4A5462"/>
                </a:solidFill>
                <a:latin typeface="Tahoma"/>
                <a:cs typeface="Tahoma"/>
              </a:rPr>
              <a:t>Property</a:t>
            </a:r>
            <a:r>
              <a:rPr sz="1250" spc="75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225" dirty="0">
                <a:solidFill>
                  <a:srgbClr val="4A5462"/>
                </a:solidFill>
                <a:latin typeface="Tahoma"/>
                <a:cs typeface="Tahoma"/>
              </a:rPr>
              <a:t>+</a:t>
            </a:r>
            <a:r>
              <a:rPr sz="1250" spc="10" dirty="0">
                <a:solidFill>
                  <a:srgbClr val="4A5462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4A5462"/>
                </a:solidFill>
                <a:latin typeface="Tahoma"/>
                <a:cs typeface="Tahoma"/>
              </a:rPr>
              <a:t>Value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733</Words>
  <Application>Microsoft Office PowerPoint</Application>
  <PresentationFormat>Kustom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1" baseType="lpstr">
      <vt:lpstr>Calibri</vt:lpstr>
      <vt:lpstr>Courier New</vt:lpstr>
      <vt:lpstr>Tahoma</vt:lpstr>
      <vt:lpstr>Trebuchet MS</vt:lpstr>
      <vt:lpstr>Office Theme</vt:lpstr>
      <vt:lpstr>Anatomi CSS</vt:lpstr>
      <vt:lpstr>Pengenalan CSS</vt:lpstr>
      <vt:lpstr>1. Selector</vt:lpstr>
      <vt:lpstr>Jenis-Jenis Selector Bagian 1</vt:lpstr>
      <vt:lpstr>Jenis-Jenis Selector Bagian 2</vt:lpstr>
      <vt:lpstr>2. Declaration Block &amp; Property</vt:lpstr>
      <vt:lpstr>4. Value &amp; 5. Declaration</vt:lpstr>
      <vt:lpstr>Ilustrasi Anatomi CSS</vt:lpstr>
      <vt:lpstr>Konsep Cascading pada CSS</vt:lpstr>
      <vt:lpstr>Specificity pada CSS</vt:lpstr>
      <vt:lpstr>Specificity pada CSS Bagian 2</vt:lpstr>
      <vt:lpstr>Komentar pada CSS</vt:lpstr>
      <vt:lpstr>Contoh Anatomi CSS Lengkap</vt:lpstr>
      <vt:lpstr>Fungsi CSS dalam Website Bagian 1</vt:lpstr>
      <vt:lpstr>Fungsi CSS dalam Website Bagian 2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2</cp:revision>
  <dcterms:created xsi:type="dcterms:W3CDTF">2026-05-09T05:20:19Z</dcterms:created>
  <dcterms:modified xsi:type="dcterms:W3CDTF">2026-05-09T05:36:22Z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LastSaved">
    <vt:filetime>2026-05-09T00:00:00Z</vt:filetime>
  </property>
</Properties>
</file>